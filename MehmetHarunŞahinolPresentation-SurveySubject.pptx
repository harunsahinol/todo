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4" r:id="rId6"/>
    <p:sldId id="266" r:id="rId7"/>
    <p:sldId id="267" r:id="rId8"/>
    <p:sldId id="262" r:id="rId9"/>
    <p:sldId id="268" r:id="rId10"/>
    <p:sldId id="263" r:id="rId11"/>
  </p:sldIdLst>
  <p:sldSz cx="5854700" cy="3295650"/>
  <p:notesSz cx="5854700" cy="329565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31"/>
    <p:restoredTop sz="94695"/>
  </p:normalViewPr>
  <p:slideViewPr>
    <p:cSldViewPr>
      <p:cViewPr varScale="1">
        <p:scale>
          <a:sx n="259" d="100"/>
          <a:sy n="259" d="100"/>
        </p:scale>
        <p:origin x="184" y="17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EA0554-E467-4C8B-8741-4E58606914E5}"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en-US"/>
        </a:p>
      </dgm:t>
    </dgm:pt>
    <dgm:pt modelId="{75CDA28A-5C7A-474B-8F1C-14A14B221EAE}">
      <dgm:prSet/>
      <dgm:spPr>
        <a:solidFill>
          <a:schemeClr val="accent1">
            <a:hueOff val="0"/>
            <a:satOff val="0"/>
            <a:lumOff val="0"/>
          </a:schemeClr>
        </a:solidFill>
      </dgm:spPr>
      <dgm:t>
        <a:bodyPr/>
        <a:lstStyle/>
        <a:p>
          <a:r>
            <a:rPr lang="en-US" b="1" dirty="0"/>
            <a:t>TF-IDF</a:t>
          </a:r>
          <a:r>
            <a:rPr lang="tr-TR" b="1" dirty="0"/>
            <a:t> </a:t>
          </a:r>
          <a:r>
            <a:rPr lang="en-US" b="0" dirty="0"/>
            <a:t>is a way of representing text as meaningful numbers, also known as vector notation.</a:t>
          </a:r>
        </a:p>
      </dgm:t>
    </dgm:pt>
    <dgm:pt modelId="{3F7EEFE7-D619-4496-A2CF-211C487231FE}" type="parTrans" cxnId="{CEADBDE5-A1E3-476A-A262-1A243846CE86}">
      <dgm:prSet/>
      <dgm:spPr/>
      <dgm:t>
        <a:bodyPr/>
        <a:lstStyle/>
        <a:p>
          <a:endParaRPr lang="en-US"/>
        </a:p>
      </dgm:t>
    </dgm:pt>
    <dgm:pt modelId="{C76E8677-846E-4844-A879-9C615F4DAE09}" type="sibTrans" cxnId="{CEADBDE5-A1E3-476A-A262-1A243846CE86}">
      <dgm:prSet/>
      <dgm:spPr/>
      <dgm:t>
        <a:bodyPr/>
        <a:lstStyle/>
        <a:p>
          <a:endParaRPr lang="en-US"/>
        </a:p>
      </dgm:t>
    </dgm:pt>
    <dgm:pt modelId="{1F81BD42-1497-4E06-B1F7-E5E0A87757ED}">
      <dgm:prSet/>
      <dgm:spPr/>
      <dgm:t>
        <a:bodyPr/>
        <a:lstStyle/>
        <a:p>
          <a:r>
            <a:rPr lang="en-US" dirty="0"/>
            <a:t>TF = </a:t>
          </a:r>
          <a:r>
            <a:rPr lang="tr-TR" dirty="0"/>
            <a:t>Total n</a:t>
          </a:r>
          <a:r>
            <a:rPr lang="en-US" dirty="0"/>
            <a:t>umber of a </a:t>
          </a:r>
          <a:r>
            <a:rPr lang="tr-TR" dirty="0"/>
            <a:t>T</a:t>
          </a:r>
          <a:r>
            <a:rPr lang="en-US" dirty="0"/>
            <a:t>erm/ Total number of term in</a:t>
          </a:r>
          <a:r>
            <a:rPr lang="tr-TR" dirty="0"/>
            <a:t> </a:t>
          </a:r>
          <a:r>
            <a:rPr lang="tr-TR" dirty="0" err="1"/>
            <a:t>document</a:t>
          </a:r>
          <a:endParaRPr lang="en-US" dirty="0"/>
        </a:p>
      </dgm:t>
    </dgm:pt>
    <dgm:pt modelId="{2A910F1D-FA06-4524-A79D-82FE699CA4A6}" type="parTrans" cxnId="{C9263149-D26B-47B4-B82A-F6E2AD810EDF}">
      <dgm:prSet/>
      <dgm:spPr/>
      <dgm:t>
        <a:bodyPr/>
        <a:lstStyle/>
        <a:p>
          <a:endParaRPr lang="en-US"/>
        </a:p>
      </dgm:t>
    </dgm:pt>
    <dgm:pt modelId="{19EFE8B6-C91D-40A1-96CD-CF3C5436904B}" type="sibTrans" cxnId="{C9263149-D26B-47B4-B82A-F6E2AD810EDF}">
      <dgm:prSet/>
      <dgm:spPr/>
      <dgm:t>
        <a:bodyPr/>
        <a:lstStyle/>
        <a:p>
          <a:endParaRPr lang="en-US"/>
        </a:p>
      </dgm:t>
    </dgm:pt>
    <dgm:pt modelId="{C35FF79E-FAD0-4663-98F1-9846380692B4}">
      <dgm:prSet/>
      <dgm:spPr/>
      <dgm:t>
        <a:bodyPr/>
        <a:lstStyle/>
        <a:p>
          <a:r>
            <a:rPr lang="en-US" dirty="0"/>
            <a:t>IDF = </a:t>
          </a:r>
          <a:r>
            <a:rPr lang="tr-TR" dirty="0"/>
            <a:t>log(T</a:t>
          </a:r>
          <a:r>
            <a:rPr lang="en-US" dirty="0" err="1"/>
            <a:t>otal</a:t>
          </a:r>
          <a:r>
            <a:rPr lang="en-US" dirty="0"/>
            <a:t> number of documents / Number of documents containing term</a:t>
          </a:r>
          <a:r>
            <a:rPr lang="tr-TR" dirty="0"/>
            <a:t>)</a:t>
          </a:r>
          <a:endParaRPr lang="en-US" dirty="0"/>
        </a:p>
      </dgm:t>
    </dgm:pt>
    <dgm:pt modelId="{28FF8BB8-D05D-4621-8A52-E273BAE2EFEF}" type="parTrans" cxnId="{C6723043-DDB2-4209-A35A-A7305AADC1E1}">
      <dgm:prSet/>
      <dgm:spPr/>
      <dgm:t>
        <a:bodyPr/>
        <a:lstStyle/>
        <a:p>
          <a:endParaRPr lang="en-US"/>
        </a:p>
      </dgm:t>
    </dgm:pt>
    <dgm:pt modelId="{6B806362-37BB-4990-83CC-733182331EA6}" type="sibTrans" cxnId="{C6723043-DDB2-4209-A35A-A7305AADC1E1}">
      <dgm:prSet/>
      <dgm:spPr/>
      <dgm:t>
        <a:bodyPr/>
        <a:lstStyle/>
        <a:p>
          <a:endParaRPr lang="en-US"/>
        </a:p>
      </dgm:t>
    </dgm:pt>
    <dgm:pt modelId="{723EDEE4-0865-459B-85B1-9B9E644400E0}" type="pres">
      <dgm:prSet presAssocID="{E1EA0554-E467-4C8B-8741-4E58606914E5}" presName="Name0" presStyleCnt="0">
        <dgm:presLayoutVars>
          <dgm:dir/>
          <dgm:animLvl val="lvl"/>
          <dgm:resizeHandles val="exact"/>
        </dgm:presLayoutVars>
      </dgm:prSet>
      <dgm:spPr/>
    </dgm:pt>
    <dgm:pt modelId="{143C8A00-4627-47E4-A0FC-822B4D54036C}" type="pres">
      <dgm:prSet presAssocID="{75CDA28A-5C7A-474B-8F1C-14A14B221EAE}" presName="parTxOnly" presStyleLbl="node1" presStyleIdx="0" presStyleCnt="3">
        <dgm:presLayoutVars>
          <dgm:chMax val="0"/>
          <dgm:chPref val="0"/>
          <dgm:bulletEnabled val="1"/>
        </dgm:presLayoutVars>
      </dgm:prSet>
      <dgm:spPr/>
    </dgm:pt>
    <dgm:pt modelId="{C6B61C83-41A0-4FD1-A031-80A97016CD5F}" type="pres">
      <dgm:prSet presAssocID="{C76E8677-846E-4844-A879-9C615F4DAE09}" presName="parTxOnlySpace" presStyleCnt="0"/>
      <dgm:spPr/>
    </dgm:pt>
    <dgm:pt modelId="{25D518E3-1F46-4F7A-B9C0-CE839525B3F0}" type="pres">
      <dgm:prSet presAssocID="{1F81BD42-1497-4E06-B1F7-E5E0A87757ED}" presName="parTxOnly" presStyleLbl="node1" presStyleIdx="1" presStyleCnt="3">
        <dgm:presLayoutVars>
          <dgm:chMax val="0"/>
          <dgm:chPref val="0"/>
          <dgm:bulletEnabled val="1"/>
        </dgm:presLayoutVars>
      </dgm:prSet>
      <dgm:spPr/>
    </dgm:pt>
    <dgm:pt modelId="{855EF765-5DD8-4BD3-BC9F-9C7074213B31}" type="pres">
      <dgm:prSet presAssocID="{19EFE8B6-C91D-40A1-96CD-CF3C5436904B}" presName="parTxOnlySpace" presStyleCnt="0"/>
      <dgm:spPr/>
    </dgm:pt>
    <dgm:pt modelId="{86959A58-155C-4CD3-B715-845AF3016E6D}" type="pres">
      <dgm:prSet presAssocID="{C35FF79E-FAD0-4663-98F1-9846380692B4}" presName="parTxOnly" presStyleLbl="node1" presStyleIdx="2" presStyleCnt="3">
        <dgm:presLayoutVars>
          <dgm:chMax val="0"/>
          <dgm:chPref val="0"/>
          <dgm:bulletEnabled val="1"/>
        </dgm:presLayoutVars>
      </dgm:prSet>
      <dgm:spPr/>
    </dgm:pt>
  </dgm:ptLst>
  <dgm:cxnLst>
    <dgm:cxn modelId="{00168E14-FD86-454D-BA1A-B7E4F158965D}" type="presOf" srcId="{C35FF79E-FAD0-4663-98F1-9846380692B4}" destId="{86959A58-155C-4CD3-B715-845AF3016E6D}" srcOrd="0" destOrd="0" presId="urn:microsoft.com/office/officeart/2005/8/layout/chevron1"/>
    <dgm:cxn modelId="{C6723043-DDB2-4209-A35A-A7305AADC1E1}" srcId="{E1EA0554-E467-4C8B-8741-4E58606914E5}" destId="{C35FF79E-FAD0-4663-98F1-9846380692B4}" srcOrd="2" destOrd="0" parTransId="{28FF8BB8-D05D-4621-8A52-E273BAE2EFEF}" sibTransId="{6B806362-37BB-4990-83CC-733182331EA6}"/>
    <dgm:cxn modelId="{C9263149-D26B-47B4-B82A-F6E2AD810EDF}" srcId="{E1EA0554-E467-4C8B-8741-4E58606914E5}" destId="{1F81BD42-1497-4E06-B1F7-E5E0A87757ED}" srcOrd="1" destOrd="0" parTransId="{2A910F1D-FA06-4524-A79D-82FE699CA4A6}" sibTransId="{19EFE8B6-C91D-40A1-96CD-CF3C5436904B}"/>
    <dgm:cxn modelId="{D3BB3799-F3CB-4A4D-896D-356BC90994C6}" type="presOf" srcId="{1F81BD42-1497-4E06-B1F7-E5E0A87757ED}" destId="{25D518E3-1F46-4F7A-B9C0-CE839525B3F0}" srcOrd="0" destOrd="0" presId="urn:microsoft.com/office/officeart/2005/8/layout/chevron1"/>
    <dgm:cxn modelId="{C224A6B9-44AD-4918-B860-148A652980CE}" type="presOf" srcId="{E1EA0554-E467-4C8B-8741-4E58606914E5}" destId="{723EDEE4-0865-459B-85B1-9B9E644400E0}" srcOrd="0" destOrd="0" presId="urn:microsoft.com/office/officeart/2005/8/layout/chevron1"/>
    <dgm:cxn modelId="{82CDDEC2-52F2-4380-9103-5EFC9E9A2879}" type="presOf" srcId="{75CDA28A-5C7A-474B-8F1C-14A14B221EAE}" destId="{143C8A00-4627-47E4-A0FC-822B4D54036C}" srcOrd="0" destOrd="0" presId="urn:microsoft.com/office/officeart/2005/8/layout/chevron1"/>
    <dgm:cxn modelId="{CEADBDE5-A1E3-476A-A262-1A243846CE86}" srcId="{E1EA0554-E467-4C8B-8741-4E58606914E5}" destId="{75CDA28A-5C7A-474B-8F1C-14A14B221EAE}" srcOrd="0" destOrd="0" parTransId="{3F7EEFE7-D619-4496-A2CF-211C487231FE}" sibTransId="{C76E8677-846E-4844-A879-9C615F4DAE09}"/>
    <dgm:cxn modelId="{8F1400D6-E260-408F-AA63-8BFFE776BEE8}" type="presParOf" srcId="{723EDEE4-0865-459B-85B1-9B9E644400E0}" destId="{143C8A00-4627-47E4-A0FC-822B4D54036C}" srcOrd="0" destOrd="0" presId="urn:microsoft.com/office/officeart/2005/8/layout/chevron1"/>
    <dgm:cxn modelId="{0395F913-5B3D-4B8A-AB05-D9777F380C39}" type="presParOf" srcId="{723EDEE4-0865-459B-85B1-9B9E644400E0}" destId="{C6B61C83-41A0-4FD1-A031-80A97016CD5F}" srcOrd="1" destOrd="0" presId="urn:microsoft.com/office/officeart/2005/8/layout/chevron1"/>
    <dgm:cxn modelId="{6040C1F8-1622-495D-993B-2A39A2C4736F}" type="presParOf" srcId="{723EDEE4-0865-459B-85B1-9B9E644400E0}" destId="{25D518E3-1F46-4F7A-B9C0-CE839525B3F0}" srcOrd="2" destOrd="0" presId="urn:microsoft.com/office/officeart/2005/8/layout/chevron1"/>
    <dgm:cxn modelId="{C10148D6-56F8-4237-9622-780FE1EDF61A}" type="presParOf" srcId="{723EDEE4-0865-459B-85B1-9B9E644400E0}" destId="{855EF765-5DD8-4BD3-BC9F-9C7074213B31}" srcOrd="3" destOrd="0" presId="urn:microsoft.com/office/officeart/2005/8/layout/chevron1"/>
    <dgm:cxn modelId="{700A77BB-CA32-41F9-A179-CCA8AAAF3E11}" type="presParOf" srcId="{723EDEE4-0865-459B-85B1-9B9E644400E0}" destId="{86959A58-155C-4CD3-B715-845AF3016E6D}" srcOrd="4" destOrd="0" presId="urn:microsoft.com/office/officeart/2005/8/layout/chevron1"/>
  </dgm:cxnLst>
  <dgm:bg>
    <a:noFill/>
    <a:effectLst>
      <a:outerShdw blurRad="50800" dist="50800" dir="5400000" algn="ctr" rotWithShape="0">
        <a:srgbClr val="000000">
          <a:alpha val="99000"/>
        </a:srgbClr>
      </a:outerShdw>
    </a:effectLst>
  </dgm:bg>
  <dgm:whole>
    <a:ln>
      <a:noFill/>
    </a:ln>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C8A00-4627-47E4-A0FC-822B4D54036C}">
      <dsp:nvSpPr>
        <dsp:cNvPr id="0" name=""/>
        <dsp:cNvSpPr/>
      </dsp:nvSpPr>
      <dsp:spPr>
        <a:xfrm>
          <a:off x="1711" y="0"/>
          <a:ext cx="2085728" cy="784830"/>
        </a:xfrm>
        <a:prstGeom prst="chevron">
          <a:avLst/>
        </a:prstGeom>
        <a:solidFill>
          <a:schemeClr val="accent1">
            <a:hueOff val="0"/>
            <a:satOff val="0"/>
            <a:lum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b="1" kern="1200" dirty="0"/>
            <a:t>TF-IDF</a:t>
          </a:r>
          <a:r>
            <a:rPr lang="tr-TR" sz="1000" b="1" kern="1200" dirty="0"/>
            <a:t> </a:t>
          </a:r>
          <a:r>
            <a:rPr lang="en-US" sz="1000" b="0" kern="1200" dirty="0"/>
            <a:t>is a way of representing text as meaningful numbers, also known as vector notation.</a:t>
          </a:r>
        </a:p>
      </dsp:txBody>
      <dsp:txXfrm>
        <a:off x="394126" y="0"/>
        <a:ext cx="1300898" cy="784830"/>
      </dsp:txXfrm>
    </dsp:sp>
    <dsp:sp modelId="{25D518E3-1F46-4F7A-B9C0-CE839525B3F0}">
      <dsp:nvSpPr>
        <dsp:cNvPr id="0" name=""/>
        <dsp:cNvSpPr/>
      </dsp:nvSpPr>
      <dsp:spPr>
        <a:xfrm>
          <a:off x="1878868" y="0"/>
          <a:ext cx="2085728" cy="78483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dirty="0"/>
            <a:t>TF = </a:t>
          </a:r>
          <a:r>
            <a:rPr lang="tr-TR" sz="1000" kern="1200" dirty="0"/>
            <a:t>Total n</a:t>
          </a:r>
          <a:r>
            <a:rPr lang="en-US" sz="1000" kern="1200" dirty="0"/>
            <a:t>umber of a </a:t>
          </a:r>
          <a:r>
            <a:rPr lang="tr-TR" sz="1000" kern="1200" dirty="0"/>
            <a:t>T</a:t>
          </a:r>
          <a:r>
            <a:rPr lang="en-US" sz="1000" kern="1200" dirty="0"/>
            <a:t>erm/ Total number of term in</a:t>
          </a:r>
          <a:r>
            <a:rPr lang="tr-TR" sz="1000" kern="1200" dirty="0"/>
            <a:t> </a:t>
          </a:r>
          <a:r>
            <a:rPr lang="tr-TR" sz="1000" kern="1200" dirty="0" err="1"/>
            <a:t>document</a:t>
          </a:r>
          <a:endParaRPr lang="en-US" sz="1000" kern="1200" dirty="0"/>
        </a:p>
      </dsp:txBody>
      <dsp:txXfrm>
        <a:off x="2271283" y="0"/>
        <a:ext cx="1300898" cy="784830"/>
      </dsp:txXfrm>
    </dsp:sp>
    <dsp:sp modelId="{86959A58-155C-4CD3-B715-845AF3016E6D}">
      <dsp:nvSpPr>
        <dsp:cNvPr id="0" name=""/>
        <dsp:cNvSpPr/>
      </dsp:nvSpPr>
      <dsp:spPr>
        <a:xfrm>
          <a:off x="3756024" y="0"/>
          <a:ext cx="2085728" cy="784830"/>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en-US" sz="1000" kern="1200" dirty="0"/>
            <a:t>IDF = </a:t>
          </a:r>
          <a:r>
            <a:rPr lang="tr-TR" sz="1000" kern="1200" dirty="0"/>
            <a:t>log(T</a:t>
          </a:r>
          <a:r>
            <a:rPr lang="en-US" sz="1000" kern="1200" dirty="0" err="1"/>
            <a:t>otal</a:t>
          </a:r>
          <a:r>
            <a:rPr lang="en-US" sz="1000" kern="1200" dirty="0"/>
            <a:t> number of documents / Number of documents containing term</a:t>
          </a:r>
          <a:r>
            <a:rPr lang="tr-TR" sz="1000" kern="1200" dirty="0"/>
            <a:t>)</a:t>
          </a:r>
          <a:endParaRPr lang="en-US" sz="1000" kern="1200" dirty="0"/>
        </a:p>
      </dsp:txBody>
      <dsp:txXfrm>
        <a:off x="4148439" y="0"/>
        <a:ext cx="1300898" cy="784830"/>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536825" cy="165100"/>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316288" y="0"/>
            <a:ext cx="2536825" cy="165100"/>
          </a:xfrm>
          <a:prstGeom prst="rect">
            <a:avLst/>
          </a:prstGeom>
        </p:spPr>
        <p:txBody>
          <a:bodyPr vert="horz" lIns="91440" tIns="45720" rIns="91440" bIns="45720" rtlCol="0"/>
          <a:lstStyle>
            <a:lvl1pPr algn="r">
              <a:defRPr sz="1200"/>
            </a:lvl1pPr>
          </a:lstStyle>
          <a:p>
            <a:fld id="{9249BB72-D948-446B-8851-192A6DF88CE2}" type="datetimeFigureOut">
              <a:rPr lang="tr-TR" smtClean="0"/>
              <a:t>8.12.2023</a:t>
            </a:fld>
            <a:endParaRPr lang="tr-TR"/>
          </a:p>
        </p:txBody>
      </p:sp>
      <p:sp>
        <p:nvSpPr>
          <p:cNvPr id="4" name="Slayt Resmi Yer Tutucusu 3"/>
          <p:cNvSpPr>
            <a:spLocks noGrp="1" noRot="1" noChangeAspect="1"/>
          </p:cNvSpPr>
          <p:nvPr>
            <p:ph type="sldImg" idx="2"/>
          </p:nvPr>
        </p:nvSpPr>
        <p:spPr>
          <a:xfrm>
            <a:off x="1939925" y="412750"/>
            <a:ext cx="1974850" cy="111125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585788" y="1585913"/>
            <a:ext cx="4683125" cy="1298575"/>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3130550"/>
            <a:ext cx="2536825" cy="165100"/>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316288" y="3130550"/>
            <a:ext cx="2536825" cy="165100"/>
          </a:xfrm>
          <a:prstGeom prst="rect">
            <a:avLst/>
          </a:prstGeom>
        </p:spPr>
        <p:txBody>
          <a:bodyPr vert="horz" lIns="91440" tIns="45720" rIns="91440" bIns="45720" rtlCol="0" anchor="b"/>
          <a:lstStyle>
            <a:lvl1pPr algn="r">
              <a:defRPr sz="1200"/>
            </a:lvl1pPr>
          </a:lstStyle>
          <a:p>
            <a:fld id="{4F94CAA1-2735-4C5B-B56F-E90645473A34}" type="slidenum">
              <a:rPr lang="tr-TR" smtClean="0"/>
              <a:t>‹#›</a:t>
            </a:fld>
            <a:endParaRPr lang="tr-TR"/>
          </a:p>
        </p:txBody>
      </p:sp>
    </p:spTree>
    <p:extLst>
      <p:ext uri="{BB962C8B-B14F-4D97-AF65-F5344CB8AC3E}">
        <p14:creationId xmlns:p14="http://schemas.microsoft.com/office/powerpoint/2010/main" val="192212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4F94CAA1-2735-4C5B-B56F-E90645473A34}" type="slidenum">
              <a:rPr lang="tr-TR" smtClean="0"/>
              <a:t>1</a:t>
            </a:fld>
            <a:endParaRPr lang="tr-TR"/>
          </a:p>
        </p:txBody>
      </p:sp>
    </p:spTree>
    <p:extLst>
      <p:ext uri="{BB962C8B-B14F-4D97-AF65-F5344CB8AC3E}">
        <p14:creationId xmlns:p14="http://schemas.microsoft.com/office/powerpoint/2010/main" val="7612338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9102" y="1021651"/>
            <a:ext cx="4976495" cy="692086"/>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878205" y="1845564"/>
            <a:ext cx="4098290" cy="823912"/>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2950713" y="505194"/>
            <a:ext cx="2520756" cy="2420291"/>
          </a:xfrm>
          <a:prstGeom prst="rect">
            <a:avLst/>
          </a:prstGeom>
        </p:spPr>
      </p:pic>
      <p:sp>
        <p:nvSpPr>
          <p:cNvPr id="2" name="Holder 2"/>
          <p:cNvSpPr>
            <a:spLocks noGrp="1"/>
          </p:cNvSpPr>
          <p:nvPr>
            <p:ph type="title"/>
          </p:nvPr>
        </p:nvSpPr>
        <p:spPr/>
        <p:txBody>
          <a:bodyPr lIns="0" tIns="0" rIns="0" bIns="0"/>
          <a:lstStyle>
            <a:lvl1pPr>
              <a:defRPr sz="950" b="0" i="0">
                <a:solidFill>
                  <a:schemeClr val="tx1"/>
                </a:solidFill>
                <a:latin typeface="Verdana"/>
                <a:cs typeface="Verdana"/>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50" b="0" i="0">
                <a:solidFill>
                  <a:schemeClr val="tx1"/>
                </a:solidFill>
                <a:latin typeface="Verdana"/>
                <a:cs typeface="Verdana"/>
              </a:defRPr>
            </a:lvl1pPr>
          </a:lstStyle>
          <a:p>
            <a:endParaRPr/>
          </a:p>
        </p:txBody>
      </p:sp>
      <p:sp>
        <p:nvSpPr>
          <p:cNvPr id="3" name="Holder 3"/>
          <p:cNvSpPr>
            <a:spLocks noGrp="1"/>
          </p:cNvSpPr>
          <p:nvPr>
            <p:ph sz="half" idx="2"/>
          </p:nvPr>
        </p:nvSpPr>
        <p:spPr>
          <a:xfrm>
            <a:off x="292735" y="757999"/>
            <a:ext cx="2546794"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015170" y="757999"/>
            <a:ext cx="2546794" cy="217512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12/8/23</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50" b="0" i="0">
                <a:solidFill>
                  <a:schemeClr val="tx1"/>
                </a:solidFill>
                <a:latin typeface="Verdana"/>
                <a:cs typeface="Verdan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12/8/23</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12/8/23</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7173" y="255640"/>
            <a:ext cx="5080352" cy="707390"/>
          </a:xfrm>
          <a:prstGeom prst="rect">
            <a:avLst/>
          </a:prstGeom>
        </p:spPr>
        <p:txBody>
          <a:bodyPr wrap="square" lIns="0" tIns="0" rIns="0" bIns="0">
            <a:spAutoFit/>
          </a:bodyPr>
          <a:lstStyle>
            <a:lvl1pPr>
              <a:defRPr sz="950" b="0" i="0">
                <a:solidFill>
                  <a:schemeClr val="tx1"/>
                </a:solidFill>
                <a:latin typeface="Verdana"/>
                <a:cs typeface="Verdana"/>
              </a:defRPr>
            </a:lvl1pPr>
          </a:lstStyle>
          <a:p>
            <a:endParaRPr/>
          </a:p>
        </p:txBody>
      </p:sp>
      <p:sp>
        <p:nvSpPr>
          <p:cNvPr id="3" name="Holder 3"/>
          <p:cNvSpPr>
            <a:spLocks noGrp="1"/>
          </p:cNvSpPr>
          <p:nvPr>
            <p:ph type="body" idx="1"/>
          </p:nvPr>
        </p:nvSpPr>
        <p:spPr>
          <a:xfrm>
            <a:off x="292735" y="757999"/>
            <a:ext cx="5269230" cy="217512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1990598" y="3064954"/>
            <a:ext cx="1873504" cy="16478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92735" y="3064954"/>
            <a:ext cx="1346581" cy="16478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12/8/23</a:t>
            </a:fld>
            <a:endParaRPr lang="en-US"/>
          </a:p>
        </p:txBody>
      </p:sp>
      <p:sp>
        <p:nvSpPr>
          <p:cNvPr id="6" name="Holder 6"/>
          <p:cNvSpPr>
            <a:spLocks noGrp="1"/>
          </p:cNvSpPr>
          <p:nvPr>
            <p:ph type="sldNum" sz="quarter" idx="7"/>
          </p:nvPr>
        </p:nvSpPr>
        <p:spPr>
          <a:xfrm>
            <a:off x="4215384" y="3064954"/>
            <a:ext cx="1346581" cy="16478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07/relationships/hdphoto" Target="../media/hdphoto1.wdp"/><Relationship Id="rId7" Type="http://schemas.openxmlformats.org/officeDocument/2006/relationships/diagramColors" Target="../diagrams/colors1.xml"/><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www.sciencedirect.com/science/article/abs/pii/S0378437119317546#fig4"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71270" y="1765150"/>
            <a:ext cx="2239645" cy="528320"/>
          </a:xfrm>
          <a:prstGeom prst="rect">
            <a:avLst/>
          </a:prstGeom>
        </p:spPr>
        <p:txBody>
          <a:bodyPr vert="horz" wrap="square" lIns="0" tIns="57785" rIns="0" bIns="0" rtlCol="0">
            <a:spAutoFit/>
          </a:bodyPr>
          <a:lstStyle/>
          <a:p>
            <a:pPr marL="101600" marR="5080" indent="-89535">
              <a:lnSpc>
                <a:spcPts val="1800"/>
              </a:lnSpc>
              <a:spcBef>
                <a:spcPts val="455"/>
              </a:spcBef>
            </a:pPr>
            <a:r>
              <a:rPr sz="1800" b="1" spc="35" dirty="0">
                <a:latin typeface="Tahoma"/>
                <a:cs typeface="Tahoma"/>
              </a:rPr>
              <a:t>The</a:t>
            </a:r>
            <a:r>
              <a:rPr sz="1800" b="1" spc="-60" dirty="0">
                <a:latin typeface="Tahoma"/>
                <a:cs typeface="Tahoma"/>
              </a:rPr>
              <a:t> </a:t>
            </a:r>
            <a:r>
              <a:rPr sz="1800" b="1" dirty="0">
                <a:latin typeface="Tahoma"/>
                <a:cs typeface="Tahoma"/>
              </a:rPr>
              <a:t>Intersection</a:t>
            </a:r>
            <a:r>
              <a:rPr sz="1800" b="1" spc="-55" dirty="0">
                <a:latin typeface="Tahoma"/>
                <a:cs typeface="Tahoma"/>
              </a:rPr>
              <a:t> </a:t>
            </a:r>
            <a:r>
              <a:rPr sz="1800" b="1" spc="10" dirty="0">
                <a:latin typeface="Tahoma"/>
                <a:cs typeface="Tahoma"/>
              </a:rPr>
              <a:t>of </a:t>
            </a:r>
            <a:r>
              <a:rPr sz="1800" b="1" spc="-509" dirty="0">
                <a:latin typeface="Tahoma"/>
                <a:cs typeface="Tahoma"/>
              </a:rPr>
              <a:t> </a:t>
            </a:r>
            <a:r>
              <a:rPr sz="1800" b="1" spc="35" dirty="0">
                <a:latin typeface="Tahoma"/>
                <a:cs typeface="Tahoma"/>
              </a:rPr>
              <a:t>Fake</a:t>
            </a:r>
            <a:r>
              <a:rPr sz="1800" b="1" spc="-60" dirty="0">
                <a:latin typeface="Tahoma"/>
                <a:cs typeface="Tahoma"/>
              </a:rPr>
              <a:t> </a:t>
            </a:r>
            <a:r>
              <a:rPr sz="1800" b="1" spc="30" dirty="0">
                <a:latin typeface="Tahoma"/>
                <a:cs typeface="Tahoma"/>
              </a:rPr>
              <a:t>News</a:t>
            </a:r>
            <a:r>
              <a:rPr sz="1800" b="1" spc="-55" dirty="0">
                <a:latin typeface="Tahoma"/>
                <a:cs typeface="Tahoma"/>
              </a:rPr>
              <a:t> </a:t>
            </a:r>
            <a:r>
              <a:rPr sz="1800" b="1" spc="65" dirty="0">
                <a:latin typeface="Tahoma"/>
                <a:cs typeface="Tahoma"/>
              </a:rPr>
              <a:t>and</a:t>
            </a:r>
            <a:r>
              <a:rPr sz="1800" b="1" spc="-55" dirty="0">
                <a:latin typeface="Tahoma"/>
                <a:cs typeface="Tahoma"/>
              </a:rPr>
              <a:t> </a:t>
            </a:r>
            <a:r>
              <a:rPr sz="1800" b="1" spc="-95" dirty="0">
                <a:latin typeface="Tahoma"/>
                <a:cs typeface="Tahoma"/>
              </a:rPr>
              <a:t>AI</a:t>
            </a:r>
            <a:endParaRPr sz="1800">
              <a:latin typeface="Tahoma"/>
              <a:cs typeface="Tahoma"/>
            </a:endParaRPr>
          </a:p>
        </p:txBody>
      </p:sp>
      <p:sp>
        <p:nvSpPr>
          <p:cNvPr id="3" name="object 3"/>
          <p:cNvSpPr/>
          <p:nvPr/>
        </p:nvSpPr>
        <p:spPr>
          <a:xfrm>
            <a:off x="1511" y="313639"/>
            <a:ext cx="2483485" cy="36830"/>
          </a:xfrm>
          <a:custGeom>
            <a:avLst/>
            <a:gdLst/>
            <a:ahLst/>
            <a:cxnLst/>
            <a:rect l="l" t="t" r="r" b="b"/>
            <a:pathLst>
              <a:path w="2483485" h="36829">
                <a:moveTo>
                  <a:pt x="2483002" y="0"/>
                </a:moveTo>
                <a:lnTo>
                  <a:pt x="0" y="0"/>
                </a:lnTo>
                <a:lnTo>
                  <a:pt x="0" y="36525"/>
                </a:lnTo>
                <a:lnTo>
                  <a:pt x="2483002" y="36525"/>
                </a:lnTo>
                <a:lnTo>
                  <a:pt x="2483002" y="0"/>
                </a:lnTo>
                <a:close/>
              </a:path>
            </a:pathLst>
          </a:custGeom>
          <a:solidFill>
            <a:srgbClr val="000000"/>
          </a:solidFill>
        </p:spPr>
        <p:txBody>
          <a:bodyPr wrap="square" lIns="0" tIns="0" rIns="0" bIns="0" rtlCol="0"/>
          <a:lstStyle/>
          <a:p>
            <a:endParaRPr/>
          </a:p>
        </p:txBody>
      </p:sp>
      <p:sp>
        <p:nvSpPr>
          <p:cNvPr id="4" name="object 4"/>
          <p:cNvSpPr/>
          <p:nvPr/>
        </p:nvSpPr>
        <p:spPr>
          <a:xfrm>
            <a:off x="3363734" y="2937789"/>
            <a:ext cx="2483485" cy="36830"/>
          </a:xfrm>
          <a:custGeom>
            <a:avLst/>
            <a:gdLst/>
            <a:ahLst/>
            <a:cxnLst/>
            <a:rect l="l" t="t" r="r" b="b"/>
            <a:pathLst>
              <a:path w="2483485" h="36830">
                <a:moveTo>
                  <a:pt x="2482989" y="0"/>
                </a:moveTo>
                <a:lnTo>
                  <a:pt x="0" y="0"/>
                </a:lnTo>
                <a:lnTo>
                  <a:pt x="0" y="36525"/>
                </a:lnTo>
                <a:lnTo>
                  <a:pt x="2482989" y="36525"/>
                </a:lnTo>
                <a:lnTo>
                  <a:pt x="2482989" y="0"/>
                </a:lnTo>
                <a:close/>
              </a:path>
            </a:pathLst>
          </a:custGeom>
          <a:solidFill>
            <a:srgbClr val="000000"/>
          </a:solidFill>
        </p:spPr>
        <p:txBody>
          <a:bodyPr wrap="square" lIns="0" tIns="0" rIns="0" bIns="0" rtlCol="0"/>
          <a:lstStyle/>
          <a:p>
            <a:endParaRPr/>
          </a:p>
        </p:txBody>
      </p:sp>
      <p:pic>
        <p:nvPicPr>
          <p:cNvPr id="5" name="object 5"/>
          <p:cNvPicPr/>
          <p:nvPr/>
        </p:nvPicPr>
        <p:blipFill>
          <a:blip r:embed="rId3" cstate="print"/>
          <a:stretch>
            <a:fillRect/>
          </a:stretch>
        </p:blipFill>
        <p:spPr>
          <a:xfrm>
            <a:off x="656057" y="459428"/>
            <a:ext cx="4524442" cy="1226890"/>
          </a:xfrm>
          <a:prstGeom prst="rect">
            <a:avLst/>
          </a:prstGeom>
        </p:spPr>
      </p:pic>
      <p:sp>
        <p:nvSpPr>
          <p:cNvPr id="6" name="Metin kutusu 5">
            <a:extLst>
              <a:ext uri="{FF2B5EF4-FFF2-40B4-BE49-F238E27FC236}">
                <a16:creationId xmlns:a16="http://schemas.microsoft.com/office/drawing/2014/main" id="{4C80EDE3-4D81-DE25-A8A5-D212A8464B67}"/>
              </a:ext>
            </a:extLst>
          </p:cNvPr>
          <p:cNvSpPr txBox="1"/>
          <p:nvPr/>
        </p:nvSpPr>
        <p:spPr>
          <a:xfrm>
            <a:off x="3478404" y="2684615"/>
            <a:ext cx="2353529" cy="523220"/>
          </a:xfrm>
          <a:prstGeom prst="rect">
            <a:avLst/>
          </a:prstGeom>
          <a:noFill/>
        </p:spPr>
        <p:txBody>
          <a:bodyPr wrap="none" rtlCol="0">
            <a:spAutoFit/>
          </a:bodyPr>
          <a:lstStyle/>
          <a:p>
            <a:r>
              <a:rPr lang="tr-TR" sz="1400" b="1" dirty="0">
                <a:latin typeface="Tahoma" panose="020B0604030504040204" pitchFamily="34" charset="0"/>
                <a:ea typeface="Tahoma" panose="020B0604030504040204" pitchFamily="34" charset="0"/>
                <a:cs typeface="Tahoma" panose="020B0604030504040204" pitchFamily="34" charset="0"/>
              </a:rPr>
              <a:t>Mehmet Harun </a:t>
            </a:r>
            <a:r>
              <a:rPr lang="tr-TR" sz="1400" b="1" dirty="0" err="1">
                <a:latin typeface="Tahoma" panose="020B0604030504040204" pitchFamily="34" charset="0"/>
                <a:ea typeface="Tahoma" panose="020B0604030504040204" pitchFamily="34" charset="0"/>
                <a:cs typeface="Tahoma" panose="020B0604030504040204" pitchFamily="34" charset="0"/>
              </a:rPr>
              <a:t>Şahinol</a:t>
            </a:r>
            <a:endParaRPr lang="tr-TR" sz="1400" b="1" dirty="0">
              <a:latin typeface="Tahoma" panose="020B0604030504040204" pitchFamily="34" charset="0"/>
              <a:ea typeface="Tahoma" panose="020B0604030504040204" pitchFamily="34" charset="0"/>
              <a:cs typeface="Tahoma" panose="020B0604030504040204" pitchFamily="34" charset="0"/>
            </a:endParaRPr>
          </a:p>
          <a:p>
            <a:r>
              <a:rPr lang="tr-TR" sz="1400" b="1" dirty="0">
                <a:latin typeface="Tahoma" panose="020B0604030504040204" pitchFamily="34" charset="0"/>
                <a:ea typeface="Tahoma" panose="020B0604030504040204" pitchFamily="34" charset="0"/>
                <a:cs typeface="Tahoma" panose="020B0604030504040204" pitchFamily="34" charset="0"/>
              </a:rPr>
              <a:t>Antalya Bilim </a:t>
            </a:r>
            <a:r>
              <a:rPr lang="tr-TR" sz="1400" b="1" dirty="0" err="1">
                <a:latin typeface="Tahoma" panose="020B0604030504040204" pitchFamily="34" charset="0"/>
                <a:ea typeface="Tahoma" panose="020B0604030504040204" pitchFamily="34" charset="0"/>
                <a:cs typeface="Tahoma" panose="020B0604030504040204" pitchFamily="34" charset="0"/>
              </a:rPr>
              <a:t>University</a:t>
            </a:r>
            <a:endParaRPr lang="tr-TR" sz="1400" b="1" dirty="0">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950713" y="505194"/>
            <a:ext cx="2520756" cy="2420291"/>
          </a:xfrm>
          <a:prstGeom prst="rect">
            <a:avLst/>
          </a:prstGeom>
        </p:spPr>
      </p:pic>
      <p:sp>
        <p:nvSpPr>
          <p:cNvPr id="3" name="object 3"/>
          <p:cNvSpPr txBox="1"/>
          <p:nvPr/>
        </p:nvSpPr>
        <p:spPr>
          <a:xfrm>
            <a:off x="488950" y="1191578"/>
            <a:ext cx="2070100" cy="748409"/>
          </a:xfrm>
          <a:prstGeom prst="rect">
            <a:avLst/>
          </a:prstGeom>
        </p:spPr>
        <p:txBody>
          <a:bodyPr vert="horz" wrap="square" lIns="0" tIns="14604" rIns="0" bIns="0" rtlCol="0">
            <a:spAutoFit/>
          </a:bodyPr>
          <a:lstStyle/>
          <a:p>
            <a:pPr marL="12700" marR="5080">
              <a:lnSpc>
                <a:spcPct val="101800"/>
              </a:lnSpc>
              <a:spcBef>
                <a:spcPts val="114"/>
              </a:spcBef>
            </a:pPr>
            <a:r>
              <a:rPr lang="tr-TR" sz="950" i="1" spc="-40" dirty="0">
                <a:latin typeface="Verdana"/>
                <a:cs typeface="Verdana"/>
              </a:rPr>
              <a:t>F</a:t>
            </a:r>
            <a:r>
              <a:rPr sz="950" i="1" spc="5" dirty="0" err="1">
                <a:latin typeface="Verdana"/>
                <a:cs typeface="Verdana"/>
              </a:rPr>
              <a:t>a</a:t>
            </a:r>
            <a:r>
              <a:rPr sz="950" i="1" spc="-20" dirty="0" err="1">
                <a:latin typeface="Verdana"/>
                <a:cs typeface="Verdana"/>
              </a:rPr>
              <a:t>k</a:t>
            </a:r>
            <a:r>
              <a:rPr sz="950" i="1" spc="10" dirty="0" err="1">
                <a:latin typeface="Verdana"/>
                <a:cs typeface="Verdana"/>
              </a:rPr>
              <a:t>e</a:t>
            </a:r>
            <a:r>
              <a:rPr sz="950" i="1" spc="-85" dirty="0">
                <a:latin typeface="Verdana"/>
                <a:cs typeface="Verdana"/>
              </a:rPr>
              <a:t> </a:t>
            </a:r>
            <a:r>
              <a:rPr sz="950" i="1" spc="45" dirty="0">
                <a:latin typeface="Verdana"/>
                <a:cs typeface="Verdana"/>
              </a:rPr>
              <a:t>n</a:t>
            </a:r>
            <a:r>
              <a:rPr sz="950" i="1" dirty="0">
                <a:latin typeface="Verdana"/>
                <a:cs typeface="Verdana"/>
              </a:rPr>
              <a:t>e</a:t>
            </a:r>
            <a:r>
              <a:rPr sz="950" i="1" spc="55" dirty="0">
                <a:latin typeface="Verdana"/>
                <a:cs typeface="Verdana"/>
              </a:rPr>
              <a:t>w</a:t>
            </a:r>
            <a:r>
              <a:rPr sz="950" i="1" spc="-25" dirty="0">
                <a:latin typeface="Verdana"/>
                <a:cs typeface="Verdana"/>
              </a:rPr>
              <a:t>s </a:t>
            </a:r>
            <a:r>
              <a:rPr sz="950" spc="-15" dirty="0">
                <a:latin typeface="Verdana"/>
                <a:cs typeface="Verdana"/>
              </a:rPr>
              <a:t>is</a:t>
            </a:r>
            <a:r>
              <a:rPr sz="950" spc="-85" dirty="0">
                <a:latin typeface="Verdana"/>
                <a:cs typeface="Verdana"/>
              </a:rPr>
              <a:t> </a:t>
            </a:r>
            <a:r>
              <a:rPr sz="950" spc="-5" dirty="0">
                <a:latin typeface="Verdana"/>
                <a:cs typeface="Verdana"/>
              </a:rPr>
              <a:t>a</a:t>
            </a:r>
            <a:r>
              <a:rPr sz="950" spc="-85" dirty="0">
                <a:latin typeface="Verdana"/>
                <a:cs typeface="Verdana"/>
              </a:rPr>
              <a:t> </a:t>
            </a:r>
            <a:r>
              <a:rPr sz="950" spc="10" dirty="0">
                <a:latin typeface="Verdana"/>
                <a:cs typeface="Verdana"/>
              </a:rPr>
              <a:t>c</a:t>
            </a:r>
            <a:r>
              <a:rPr sz="950" dirty="0">
                <a:latin typeface="Verdana"/>
                <a:cs typeface="Verdana"/>
              </a:rPr>
              <a:t>riti</a:t>
            </a:r>
            <a:r>
              <a:rPr sz="950" spc="10" dirty="0">
                <a:latin typeface="Verdana"/>
                <a:cs typeface="Verdana"/>
              </a:rPr>
              <a:t>cal</a:t>
            </a:r>
            <a:r>
              <a:rPr sz="950" spc="-85" dirty="0">
                <a:latin typeface="Verdana"/>
                <a:cs typeface="Verdana"/>
              </a:rPr>
              <a:t> </a:t>
            </a:r>
            <a:r>
              <a:rPr sz="950" spc="-5" dirty="0">
                <a:latin typeface="Verdana"/>
                <a:cs typeface="Verdana"/>
              </a:rPr>
              <a:t>i</a:t>
            </a:r>
            <a:r>
              <a:rPr sz="950" spc="-30" dirty="0">
                <a:latin typeface="Verdana"/>
                <a:cs typeface="Verdana"/>
              </a:rPr>
              <a:t>ss</a:t>
            </a:r>
            <a:r>
              <a:rPr sz="950" spc="25" dirty="0">
                <a:latin typeface="Verdana"/>
                <a:cs typeface="Verdana"/>
              </a:rPr>
              <a:t>ue</a:t>
            </a:r>
            <a:r>
              <a:rPr sz="950" spc="-85" dirty="0">
                <a:latin typeface="Verdana"/>
                <a:cs typeface="Verdana"/>
              </a:rPr>
              <a:t> </a:t>
            </a:r>
            <a:r>
              <a:rPr sz="950" spc="20" dirty="0">
                <a:latin typeface="Verdana"/>
                <a:cs typeface="Verdana"/>
              </a:rPr>
              <a:t>in</a:t>
            </a:r>
            <a:r>
              <a:rPr sz="950" spc="-85" dirty="0">
                <a:latin typeface="Verdana"/>
                <a:cs typeface="Verdana"/>
              </a:rPr>
              <a:t> </a:t>
            </a:r>
            <a:r>
              <a:rPr sz="950" spc="-5" dirty="0">
                <a:latin typeface="Verdana"/>
                <a:cs typeface="Verdana"/>
              </a:rPr>
              <a:t>t</a:t>
            </a:r>
            <a:r>
              <a:rPr sz="950" spc="25" dirty="0">
                <a:latin typeface="Verdana"/>
                <a:cs typeface="Verdana"/>
              </a:rPr>
              <a:t>od</a:t>
            </a:r>
            <a:r>
              <a:rPr sz="950" spc="15" dirty="0">
                <a:latin typeface="Verdana"/>
                <a:cs typeface="Verdana"/>
              </a:rPr>
              <a:t>a</a:t>
            </a:r>
            <a:r>
              <a:rPr sz="950" spc="-40" dirty="0">
                <a:latin typeface="Verdana"/>
                <a:cs typeface="Verdana"/>
              </a:rPr>
              <a:t>y's  </a:t>
            </a:r>
            <a:r>
              <a:rPr sz="950" spc="-25" dirty="0">
                <a:latin typeface="Verdana"/>
                <a:cs typeface="Verdana"/>
              </a:rPr>
              <a:t>society. </a:t>
            </a:r>
            <a:r>
              <a:rPr sz="950" spc="-5" dirty="0">
                <a:latin typeface="Verdana"/>
                <a:cs typeface="Verdana"/>
              </a:rPr>
              <a:t>This </a:t>
            </a:r>
            <a:r>
              <a:rPr sz="950" spc="10" dirty="0">
                <a:latin typeface="Verdana"/>
                <a:cs typeface="Verdana"/>
              </a:rPr>
              <a:t>presentation will </a:t>
            </a:r>
            <a:r>
              <a:rPr sz="950" spc="5" dirty="0">
                <a:latin typeface="Verdana"/>
                <a:cs typeface="Verdana"/>
              </a:rPr>
              <a:t>del</a:t>
            </a:r>
            <a:r>
              <a:rPr sz="950" spc="-10" dirty="0">
                <a:latin typeface="Verdana"/>
                <a:cs typeface="Verdana"/>
              </a:rPr>
              <a:t>v</a:t>
            </a:r>
            <a:r>
              <a:rPr sz="950" spc="10" dirty="0">
                <a:latin typeface="Verdana"/>
                <a:cs typeface="Verdana"/>
              </a:rPr>
              <a:t>e</a:t>
            </a:r>
            <a:r>
              <a:rPr sz="950" spc="-85" dirty="0">
                <a:latin typeface="Verdana"/>
                <a:cs typeface="Verdana"/>
              </a:rPr>
              <a:t> </a:t>
            </a:r>
            <a:r>
              <a:rPr sz="950" spc="-5" dirty="0">
                <a:latin typeface="Verdana"/>
                <a:cs typeface="Verdana"/>
              </a:rPr>
              <a:t>i</a:t>
            </a:r>
            <a:r>
              <a:rPr sz="950" spc="35" dirty="0">
                <a:latin typeface="Verdana"/>
                <a:cs typeface="Verdana"/>
              </a:rPr>
              <a:t>n</a:t>
            </a:r>
            <a:r>
              <a:rPr sz="950" dirty="0">
                <a:latin typeface="Verdana"/>
                <a:cs typeface="Verdana"/>
              </a:rPr>
              <a:t>t</a:t>
            </a:r>
            <a:r>
              <a:rPr sz="950" spc="20" dirty="0">
                <a:latin typeface="Verdana"/>
                <a:cs typeface="Verdana"/>
              </a:rPr>
              <a:t>o</a:t>
            </a:r>
            <a:r>
              <a:rPr sz="950" spc="-85" dirty="0">
                <a:latin typeface="Verdana"/>
                <a:cs typeface="Verdana"/>
              </a:rPr>
              <a:t> </a:t>
            </a:r>
            <a:r>
              <a:rPr sz="950" spc="30" dirty="0">
                <a:latin typeface="Verdana"/>
                <a:cs typeface="Verdana"/>
              </a:rPr>
              <a:t>th</a:t>
            </a:r>
            <a:r>
              <a:rPr sz="950" spc="10" dirty="0">
                <a:latin typeface="Verdana"/>
                <a:cs typeface="Verdana"/>
              </a:rPr>
              <a:t>e</a:t>
            </a:r>
            <a:r>
              <a:rPr sz="950" spc="-85" dirty="0">
                <a:latin typeface="Verdana"/>
                <a:cs typeface="Verdana"/>
              </a:rPr>
              <a:t> </a:t>
            </a:r>
            <a:r>
              <a:rPr sz="950" b="1" spc="50" dirty="0">
                <a:latin typeface="Tahoma"/>
                <a:cs typeface="Tahoma"/>
              </a:rPr>
              <a:t>im</a:t>
            </a:r>
            <a:r>
              <a:rPr sz="950" b="1" spc="40" dirty="0">
                <a:latin typeface="Tahoma"/>
                <a:cs typeface="Tahoma"/>
              </a:rPr>
              <a:t>p</a:t>
            </a:r>
            <a:r>
              <a:rPr sz="950" b="1" spc="10" dirty="0">
                <a:latin typeface="Tahoma"/>
                <a:cs typeface="Tahoma"/>
              </a:rPr>
              <a:t>a</a:t>
            </a:r>
            <a:r>
              <a:rPr sz="950" b="1" spc="60" dirty="0">
                <a:latin typeface="Tahoma"/>
                <a:cs typeface="Tahoma"/>
              </a:rPr>
              <a:t>c</a:t>
            </a:r>
            <a:r>
              <a:rPr sz="950" b="1" spc="10" dirty="0">
                <a:latin typeface="Tahoma"/>
                <a:cs typeface="Tahoma"/>
              </a:rPr>
              <a:t>t</a:t>
            </a:r>
            <a:r>
              <a:rPr sz="950" b="1" spc="-30" dirty="0">
                <a:latin typeface="Tahoma"/>
                <a:cs typeface="Tahoma"/>
              </a:rPr>
              <a:t> </a:t>
            </a:r>
            <a:r>
              <a:rPr sz="950" spc="5" dirty="0">
                <a:latin typeface="Verdana"/>
                <a:cs typeface="Verdana"/>
              </a:rPr>
              <a:t>of</a:t>
            </a:r>
            <a:r>
              <a:rPr sz="950" spc="-85" dirty="0">
                <a:latin typeface="Verdana"/>
                <a:cs typeface="Verdana"/>
              </a:rPr>
              <a:t> </a:t>
            </a:r>
            <a:r>
              <a:rPr sz="950" spc="-40" dirty="0">
                <a:latin typeface="Verdana"/>
                <a:cs typeface="Verdana"/>
              </a:rPr>
              <a:t>AI</a:t>
            </a:r>
            <a:r>
              <a:rPr sz="950" spc="-85" dirty="0">
                <a:latin typeface="Verdana"/>
                <a:cs typeface="Verdana"/>
              </a:rPr>
              <a:t> </a:t>
            </a:r>
            <a:r>
              <a:rPr sz="950" spc="35" dirty="0">
                <a:latin typeface="Verdana"/>
                <a:cs typeface="Verdana"/>
              </a:rPr>
              <a:t>on</a:t>
            </a:r>
            <a:r>
              <a:rPr sz="950" spc="-85" dirty="0">
                <a:latin typeface="Verdana"/>
                <a:cs typeface="Verdana"/>
              </a:rPr>
              <a:t> </a:t>
            </a:r>
            <a:r>
              <a:rPr sz="950" spc="30" dirty="0">
                <a:latin typeface="Verdana"/>
                <a:cs typeface="Verdana"/>
              </a:rPr>
              <a:t>th</a:t>
            </a:r>
            <a:r>
              <a:rPr sz="950" spc="5" dirty="0">
                <a:latin typeface="Verdana"/>
                <a:cs typeface="Verdana"/>
              </a:rPr>
              <a:t>e </a:t>
            </a:r>
            <a:r>
              <a:rPr sz="950" dirty="0">
                <a:latin typeface="Verdana"/>
                <a:cs typeface="Verdana"/>
              </a:rPr>
              <a:t>sp</a:t>
            </a:r>
            <a:r>
              <a:rPr sz="950" spc="-15" dirty="0">
                <a:latin typeface="Verdana"/>
                <a:cs typeface="Verdana"/>
              </a:rPr>
              <a:t>r</a:t>
            </a:r>
            <a:r>
              <a:rPr sz="950" spc="-5" dirty="0">
                <a:latin typeface="Verdana"/>
                <a:cs typeface="Verdana"/>
              </a:rPr>
              <a:t>ea</a:t>
            </a:r>
            <a:r>
              <a:rPr sz="950" spc="55" dirty="0">
                <a:latin typeface="Verdana"/>
                <a:cs typeface="Verdana"/>
              </a:rPr>
              <a:t>d</a:t>
            </a:r>
            <a:r>
              <a:rPr sz="950" spc="-85" dirty="0">
                <a:latin typeface="Verdana"/>
                <a:cs typeface="Verdana"/>
              </a:rPr>
              <a:t> </a:t>
            </a:r>
            <a:r>
              <a:rPr sz="950" spc="5" dirty="0">
                <a:latin typeface="Verdana"/>
                <a:cs typeface="Verdana"/>
              </a:rPr>
              <a:t>of</a:t>
            </a:r>
            <a:r>
              <a:rPr sz="950" spc="-85" dirty="0">
                <a:latin typeface="Verdana"/>
                <a:cs typeface="Verdana"/>
              </a:rPr>
              <a:t> </a:t>
            </a:r>
            <a:r>
              <a:rPr sz="950" spc="-20" dirty="0">
                <a:latin typeface="Verdana"/>
                <a:cs typeface="Verdana"/>
              </a:rPr>
              <a:t>f</a:t>
            </a:r>
            <a:r>
              <a:rPr sz="950" dirty="0">
                <a:latin typeface="Verdana"/>
                <a:cs typeface="Verdana"/>
              </a:rPr>
              <a:t>a</a:t>
            </a:r>
            <a:r>
              <a:rPr sz="950" spc="-25" dirty="0">
                <a:latin typeface="Verdana"/>
                <a:cs typeface="Verdana"/>
              </a:rPr>
              <a:t>k</a:t>
            </a:r>
            <a:r>
              <a:rPr sz="950" spc="10" dirty="0">
                <a:latin typeface="Verdana"/>
                <a:cs typeface="Verdana"/>
              </a:rPr>
              <a:t>e</a:t>
            </a:r>
            <a:r>
              <a:rPr sz="950" spc="-85" dirty="0">
                <a:latin typeface="Verdana"/>
                <a:cs typeface="Verdana"/>
              </a:rPr>
              <a:t> </a:t>
            </a:r>
            <a:r>
              <a:rPr sz="950" spc="45" dirty="0">
                <a:latin typeface="Verdana"/>
                <a:cs typeface="Verdana"/>
              </a:rPr>
              <a:t>n</a:t>
            </a:r>
            <a:r>
              <a:rPr sz="950" dirty="0">
                <a:latin typeface="Verdana"/>
                <a:cs typeface="Verdana"/>
              </a:rPr>
              <a:t>e</a:t>
            </a:r>
            <a:r>
              <a:rPr sz="950" spc="55" dirty="0">
                <a:latin typeface="Verdana"/>
                <a:cs typeface="Verdana"/>
              </a:rPr>
              <a:t>w</a:t>
            </a:r>
            <a:r>
              <a:rPr sz="950" spc="-30" dirty="0">
                <a:latin typeface="Verdana"/>
                <a:cs typeface="Verdana"/>
              </a:rPr>
              <a:t>s</a:t>
            </a:r>
            <a:r>
              <a:rPr sz="950" spc="-85" dirty="0">
                <a:latin typeface="Verdana"/>
                <a:cs typeface="Verdana"/>
              </a:rPr>
              <a:t> </a:t>
            </a:r>
            <a:r>
              <a:rPr sz="950" spc="20" dirty="0">
                <a:latin typeface="Verdana"/>
                <a:cs typeface="Verdana"/>
              </a:rPr>
              <a:t>an</a:t>
            </a:r>
            <a:r>
              <a:rPr sz="950" spc="55" dirty="0">
                <a:latin typeface="Verdana"/>
                <a:cs typeface="Verdana"/>
              </a:rPr>
              <a:t>d</a:t>
            </a:r>
            <a:r>
              <a:rPr sz="950" spc="-85" dirty="0">
                <a:latin typeface="Verdana"/>
                <a:cs typeface="Verdana"/>
              </a:rPr>
              <a:t> </a:t>
            </a:r>
            <a:r>
              <a:rPr sz="950" spc="30" dirty="0">
                <a:latin typeface="Verdana"/>
                <a:cs typeface="Verdana"/>
              </a:rPr>
              <a:t>th</a:t>
            </a:r>
            <a:r>
              <a:rPr sz="950" spc="5" dirty="0">
                <a:latin typeface="Verdana"/>
                <a:cs typeface="Verdana"/>
              </a:rPr>
              <a:t>e </a:t>
            </a:r>
            <a:r>
              <a:rPr sz="950" b="1" spc="50" dirty="0">
                <a:latin typeface="Tahoma"/>
                <a:cs typeface="Tahoma"/>
              </a:rPr>
              <a:t>c</a:t>
            </a:r>
            <a:r>
              <a:rPr sz="950" b="1" spc="20" dirty="0">
                <a:latin typeface="Tahoma"/>
                <a:cs typeface="Tahoma"/>
              </a:rPr>
              <a:t>hallen</a:t>
            </a:r>
            <a:r>
              <a:rPr sz="950" b="1" spc="30" dirty="0">
                <a:latin typeface="Tahoma"/>
                <a:cs typeface="Tahoma"/>
              </a:rPr>
              <a:t>ges</a:t>
            </a:r>
            <a:r>
              <a:rPr sz="950" b="1" spc="-30" dirty="0">
                <a:latin typeface="Tahoma"/>
                <a:cs typeface="Tahoma"/>
              </a:rPr>
              <a:t> </a:t>
            </a:r>
            <a:r>
              <a:rPr sz="950" spc="-5" dirty="0">
                <a:latin typeface="Verdana"/>
                <a:cs typeface="Verdana"/>
              </a:rPr>
              <a:t>i</a:t>
            </a:r>
            <a:r>
              <a:rPr sz="950" spc="15" dirty="0">
                <a:latin typeface="Verdana"/>
                <a:cs typeface="Verdana"/>
              </a:rPr>
              <a:t>t</a:t>
            </a:r>
            <a:r>
              <a:rPr sz="950" spc="-85" dirty="0">
                <a:latin typeface="Verdana"/>
                <a:cs typeface="Verdana"/>
              </a:rPr>
              <a:t> </a:t>
            </a:r>
            <a:r>
              <a:rPr sz="950" spc="20" dirty="0">
                <a:latin typeface="Verdana"/>
                <a:cs typeface="Verdana"/>
              </a:rPr>
              <a:t>p</a:t>
            </a:r>
            <a:r>
              <a:rPr sz="950" dirty="0">
                <a:latin typeface="Verdana"/>
                <a:cs typeface="Verdana"/>
              </a:rPr>
              <a:t>r</a:t>
            </a:r>
            <a:r>
              <a:rPr sz="950" spc="5" dirty="0">
                <a:latin typeface="Verdana"/>
                <a:cs typeface="Verdana"/>
              </a:rPr>
              <a:t>esents</a:t>
            </a:r>
            <a:r>
              <a:rPr lang="tr-TR" sz="950" spc="5" baseline="-25000" dirty="0">
                <a:latin typeface="Verdana"/>
                <a:cs typeface="Verdana"/>
              </a:rPr>
              <a:t>[1]</a:t>
            </a:r>
            <a:r>
              <a:rPr sz="950" spc="-145" dirty="0">
                <a:latin typeface="Verdana"/>
                <a:cs typeface="Verdana"/>
              </a:rPr>
              <a:t>.</a:t>
            </a:r>
            <a:r>
              <a:rPr lang="tr-TR" sz="950" spc="-145" dirty="0">
                <a:latin typeface="Verdana"/>
                <a:cs typeface="Verdana"/>
              </a:rPr>
              <a:t> </a:t>
            </a:r>
            <a:endParaRPr sz="950" dirty="0">
              <a:latin typeface="Verdana"/>
              <a:cs typeface="Verdana"/>
            </a:endParaRPr>
          </a:p>
        </p:txBody>
      </p:sp>
      <p:sp>
        <p:nvSpPr>
          <p:cNvPr id="4" name="object 4"/>
          <p:cNvSpPr txBox="1">
            <a:spLocks noGrp="1"/>
          </p:cNvSpPr>
          <p:nvPr>
            <p:ph type="title"/>
          </p:nvPr>
        </p:nvSpPr>
        <p:spPr>
          <a:xfrm>
            <a:off x="388578" y="407476"/>
            <a:ext cx="1548172" cy="461665"/>
          </a:xfrm>
          <a:prstGeom prst="rect">
            <a:avLst/>
          </a:prstGeom>
        </p:spPr>
        <p:txBody>
          <a:bodyPr vert="horz" wrap="square" lIns="0" tIns="15240" rIns="0" bIns="0" rtlCol="0">
            <a:spAutoFit/>
          </a:bodyPr>
          <a:lstStyle/>
          <a:p>
            <a:pPr marL="12700">
              <a:lnSpc>
                <a:spcPct val="100000"/>
              </a:lnSpc>
              <a:spcBef>
                <a:spcPts val="120"/>
              </a:spcBef>
            </a:pPr>
            <a:r>
              <a:rPr lang="tr-TR" sz="1300" b="1" spc="20" dirty="0">
                <a:latin typeface="Tahoma"/>
                <a:cs typeface="Tahoma"/>
              </a:rPr>
              <a:t>Why this topic is </a:t>
            </a:r>
            <a:r>
              <a:rPr lang="tr-TR" sz="1600" b="1" spc="20" dirty="0">
                <a:latin typeface="Tahoma"/>
                <a:cs typeface="Tahoma"/>
              </a:rPr>
              <a:t>important</a:t>
            </a:r>
            <a:r>
              <a:rPr lang="tr-TR" sz="1300" b="1" spc="20" dirty="0">
                <a:latin typeface="Tahoma"/>
                <a:cs typeface="Tahoma"/>
              </a:rPr>
              <a:t>?</a:t>
            </a:r>
            <a:endParaRPr sz="1300" dirty="0">
              <a:latin typeface="Tahoma"/>
              <a:cs typeface="Tahoma"/>
            </a:endParaRPr>
          </a:p>
        </p:txBody>
      </p:sp>
      <p:sp>
        <p:nvSpPr>
          <p:cNvPr id="5" name="object 5"/>
          <p:cNvSpPr/>
          <p:nvPr/>
        </p:nvSpPr>
        <p:spPr>
          <a:xfrm>
            <a:off x="1511" y="313626"/>
            <a:ext cx="2485390" cy="36830"/>
          </a:xfrm>
          <a:custGeom>
            <a:avLst/>
            <a:gdLst/>
            <a:ahLst/>
            <a:cxnLst/>
            <a:rect l="l" t="t" r="r" b="b"/>
            <a:pathLst>
              <a:path w="2485390" h="36829">
                <a:moveTo>
                  <a:pt x="2485161" y="0"/>
                </a:moveTo>
                <a:lnTo>
                  <a:pt x="0" y="0"/>
                </a:lnTo>
                <a:lnTo>
                  <a:pt x="0" y="36525"/>
                </a:lnTo>
                <a:lnTo>
                  <a:pt x="2485161" y="36525"/>
                </a:lnTo>
                <a:lnTo>
                  <a:pt x="2485161" y="0"/>
                </a:lnTo>
                <a:close/>
              </a:path>
            </a:pathLst>
          </a:custGeom>
          <a:solidFill>
            <a:srgbClr val="000000"/>
          </a:solidFill>
        </p:spPr>
        <p:txBody>
          <a:bodyPr wrap="square" lIns="0" tIns="0" rIns="0" bIns="0" rtlCol="0"/>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7382" y="1490246"/>
            <a:ext cx="5093262" cy="1433916"/>
          </a:xfrm>
          <a:prstGeom prst="rect">
            <a:avLst/>
          </a:prstGeom>
        </p:spPr>
      </p:pic>
      <p:sp>
        <p:nvSpPr>
          <p:cNvPr id="3" name="object 3"/>
          <p:cNvSpPr txBox="1"/>
          <p:nvPr/>
        </p:nvSpPr>
        <p:spPr>
          <a:xfrm>
            <a:off x="367263" y="410839"/>
            <a:ext cx="2026285" cy="201295"/>
          </a:xfrm>
          <a:prstGeom prst="rect">
            <a:avLst/>
          </a:prstGeom>
        </p:spPr>
        <p:txBody>
          <a:bodyPr vert="horz" wrap="square" lIns="0" tIns="12700" rIns="0" bIns="0" rtlCol="0">
            <a:spAutoFit/>
          </a:bodyPr>
          <a:lstStyle/>
          <a:p>
            <a:pPr marL="12700">
              <a:lnSpc>
                <a:spcPct val="100000"/>
              </a:lnSpc>
              <a:spcBef>
                <a:spcPts val="100"/>
              </a:spcBef>
            </a:pPr>
            <a:r>
              <a:rPr sz="1150" b="1" spc="-30" dirty="0">
                <a:latin typeface="Verdana"/>
                <a:cs typeface="Verdana"/>
              </a:rPr>
              <a:t>U</a:t>
            </a:r>
            <a:r>
              <a:rPr sz="1150" b="1" spc="-25" dirty="0">
                <a:latin typeface="Verdana"/>
                <a:cs typeface="Verdana"/>
              </a:rPr>
              <a:t>n</a:t>
            </a:r>
            <a:r>
              <a:rPr sz="1150" b="1" spc="-20" dirty="0">
                <a:latin typeface="Verdana"/>
                <a:cs typeface="Verdana"/>
              </a:rPr>
              <a:t>d</a:t>
            </a:r>
            <a:r>
              <a:rPr sz="1150" b="1" spc="-55" dirty="0">
                <a:latin typeface="Verdana"/>
                <a:cs typeface="Verdana"/>
              </a:rPr>
              <a:t>e</a:t>
            </a:r>
            <a:r>
              <a:rPr sz="1150" b="1" spc="-95" dirty="0">
                <a:latin typeface="Verdana"/>
                <a:cs typeface="Verdana"/>
              </a:rPr>
              <a:t>rs</a:t>
            </a:r>
            <a:r>
              <a:rPr sz="1150" b="1" spc="-45" dirty="0">
                <a:latin typeface="Verdana"/>
                <a:cs typeface="Verdana"/>
              </a:rPr>
              <a:t>t</a:t>
            </a:r>
            <a:r>
              <a:rPr sz="1150" b="1" spc="-70" dirty="0">
                <a:latin typeface="Verdana"/>
                <a:cs typeface="Verdana"/>
              </a:rPr>
              <a:t>a</a:t>
            </a:r>
            <a:r>
              <a:rPr sz="1150" b="1" spc="-25" dirty="0">
                <a:latin typeface="Verdana"/>
                <a:cs typeface="Verdana"/>
              </a:rPr>
              <a:t>n</a:t>
            </a:r>
            <a:r>
              <a:rPr sz="1150" b="1" spc="-35" dirty="0">
                <a:latin typeface="Verdana"/>
                <a:cs typeface="Verdana"/>
              </a:rPr>
              <a:t>di</a:t>
            </a:r>
            <a:r>
              <a:rPr sz="1150" b="1" spc="-40" dirty="0">
                <a:latin typeface="Verdana"/>
                <a:cs typeface="Verdana"/>
              </a:rPr>
              <a:t>n</a:t>
            </a:r>
            <a:r>
              <a:rPr sz="1150" b="1" spc="-5" dirty="0">
                <a:latin typeface="Verdana"/>
                <a:cs typeface="Verdana"/>
              </a:rPr>
              <a:t>g</a:t>
            </a:r>
            <a:r>
              <a:rPr sz="1150" b="1" spc="-75" dirty="0">
                <a:latin typeface="Verdana"/>
                <a:cs typeface="Verdana"/>
              </a:rPr>
              <a:t> </a:t>
            </a:r>
            <a:r>
              <a:rPr sz="1150" b="1" spc="-35" dirty="0">
                <a:latin typeface="Verdana"/>
                <a:cs typeface="Verdana"/>
              </a:rPr>
              <a:t>F</a:t>
            </a:r>
            <a:r>
              <a:rPr sz="1150" b="1" spc="-75" dirty="0">
                <a:latin typeface="Verdana"/>
                <a:cs typeface="Verdana"/>
              </a:rPr>
              <a:t>a</a:t>
            </a:r>
            <a:r>
              <a:rPr sz="1150" b="1" spc="-70" dirty="0">
                <a:latin typeface="Verdana"/>
                <a:cs typeface="Verdana"/>
              </a:rPr>
              <a:t>k</a:t>
            </a:r>
            <a:r>
              <a:rPr sz="1150" b="1" spc="-50" dirty="0">
                <a:latin typeface="Verdana"/>
                <a:cs typeface="Verdana"/>
              </a:rPr>
              <a:t>e</a:t>
            </a:r>
            <a:r>
              <a:rPr sz="1150" b="1" spc="-75" dirty="0">
                <a:latin typeface="Verdana"/>
                <a:cs typeface="Verdana"/>
              </a:rPr>
              <a:t> </a:t>
            </a:r>
            <a:r>
              <a:rPr sz="1150" b="1" spc="-45" dirty="0">
                <a:latin typeface="Verdana"/>
                <a:cs typeface="Verdana"/>
              </a:rPr>
              <a:t>N</a:t>
            </a:r>
            <a:r>
              <a:rPr sz="1150" b="1" spc="-65" dirty="0">
                <a:latin typeface="Verdana"/>
                <a:cs typeface="Verdana"/>
              </a:rPr>
              <a:t>e</a:t>
            </a:r>
            <a:r>
              <a:rPr sz="1150" b="1" spc="-80" dirty="0">
                <a:latin typeface="Verdana"/>
                <a:cs typeface="Verdana"/>
              </a:rPr>
              <a:t>w</a:t>
            </a:r>
            <a:r>
              <a:rPr sz="1150" b="1" spc="-90" dirty="0">
                <a:latin typeface="Verdana"/>
                <a:cs typeface="Verdana"/>
              </a:rPr>
              <a:t>s</a:t>
            </a:r>
            <a:endParaRPr sz="1150">
              <a:latin typeface="Verdana"/>
              <a:cs typeface="Verdana"/>
            </a:endParaRPr>
          </a:p>
        </p:txBody>
      </p:sp>
      <p:sp>
        <p:nvSpPr>
          <p:cNvPr id="4" name="object 4"/>
          <p:cNvSpPr txBox="1">
            <a:spLocks noGrp="1"/>
          </p:cNvSpPr>
          <p:nvPr>
            <p:ph type="title"/>
          </p:nvPr>
        </p:nvSpPr>
        <p:spPr>
          <a:xfrm>
            <a:off x="2546349" y="255640"/>
            <a:ext cx="2921175" cy="616194"/>
          </a:xfrm>
          <a:prstGeom prst="rect">
            <a:avLst/>
          </a:prstGeom>
        </p:spPr>
        <p:txBody>
          <a:bodyPr vert="horz" wrap="square" lIns="0" tIns="31115" rIns="0" bIns="0" rtlCol="0">
            <a:spAutoFit/>
          </a:bodyPr>
          <a:lstStyle/>
          <a:p>
            <a:pPr algn="l"/>
            <a:r>
              <a:rPr lang="tr-TR" b="0" i="0" dirty="0" err="1">
                <a:effectLst/>
                <a:latin typeface="Verdana" panose="020B0604030504040204" pitchFamily="34" charset="0"/>
                <a:ea typeface="Verdana" panose="020B0604030504040204" pitchFamily="34" charset="0"/>
                <a:cs typeface="Verdana" panose="020B0604030504040204" pitchFamily="34" charset="0"/>
              </a:rPr>
              <a:t>Fake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news</a:t>
            </a:r>
            <a:r>
              <a:rPr lang="tr-TR" b="0" i="0" dirty="0">
                <a:effectLst/>
                <a:latin typeface="Verdana" panose="020B0604030504040204" pitchFamily="34" charset="0"/>
                <a:ea typeface="Verdana" panose="020B0604030504040204" pitchFamily="34" charset="0"/>
                <a:cs typeface="Verdana" panose="020B0604030504040204" pitchFamily="34" charset="0"/>
              </a:rPr>
              <a:t> is </a:t>
            </a:r>
            <a:r>
              <a:rPr lang="tr-TR" b="1" i="0" dirty="0" err="1">
                <a:effectLst/>
                <a:latin typeface="Verdana" panose="020B0604030504040204" pitchFamily="34" charset="0"/>
                <a:ea typeface="Verdana" panose="020B0604030504040204" pitchFamily="34" charset="0"/>
                <a:cs typeface="Verdana" panose="020B0604030504040204" pitchFamily="34" charset="0"/>
              </a:rPr>
              <a:t>false</a:t>
            </a:r>
            <a:r>
              <a:rPr lang="tr-TR" b="1" i="0" dirty="0">
                <a:effectLst/>
                <a:latin typeface="Verdana" panose="020B0604030504040204" pitchFamily="34" charset="0"/>
                <a:ea typeface="Verdana" panose="020B0604030504040204" pitchFamily="34" charset="0"/>
                <a:cs typeface="Verdana" panose="020B0604030504040204" pitchFamily="34" charset="0"/>
              </a:rPr>
              <a:t> </a:t>
            </a:r>
            <a:r>
              <a:rPr lang="tr-TR" b="1" i="0" dirty="0" err="1">
                <a:effectLst/>
                <a:latin typeface="Verdana" panose="020B0604030504040204" pitchFamily="34" charset="0"/>
                <a:ea typeface="Verdana" panose="020B0604030504040204" pitchFamily="34" charset="0"/>
                <a:cs typeface="Verdana" panose="020B0604030504040204" pitchFamily="34" charset="0"/>
              </a:rPr>
              <a:t>information</a:t>
            </a:r>
            <a:r>
              <a:rPr lang="tr-TR" b="1"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that</a:t>
            </a:r>
            <a:r>
              <a:rPr lang="tr-TR" b="0" i="0" dirty="0">
                <a:effectLst/>
                <a:latin typeface="Verdana" panose="020B0604030504040204" pitchFamily="34" charset="0"/>
                <a:ea typeface="Verdana" panose="020B0604030504040204" pitchFamily="34" charset="0"/>
                <a:cs typeface="Verdana" panose="020B0604030504040204" pitchFamily="34" charset="0"/>
              </a:rPr>
              <a:t> is spread on </a:t>
            </a:r>
            <a:r>
              <a:rPr lang="tr-TR" b="0" i="0" dirty="0" err="1">
                <a:effectLst/>
                <a:latin typeface="Verdana" panose="020B0604030504040204" pitchFamily="34" charset="0"/>
                <a:ea typeface="Verdana" panose="020B0604030504040204" pitchFamily="34" charset="0"/>
                <a:cs typeface="Verdana" panose="020B0604030504040204" pitchFamily="34" charset="0"/>
              </a:rPr>
              <a:t>purpose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to</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deceive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people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It</a:t>
            </a:r>
            <a:r>
              <a:rPr lang="tr-TR" b="0" i="0" dirty="0">
                <a:effectLst/>
                <a:latin typeface="Verdana" panose="020B0604030504040204" pitchFamily="34" charset="0"/>
                <a:ea typeface="Verdana" panose="020B0604030504040204" pitchFamily="34" charset="0"/>
                <a:cs typeface="Verdana" panose="020B0604030504040204" pitchFamily="34" charset="0"/>
              </a:rPr>
              <a:t> can be </a:t>
            </a:r>
            <a:r>
              <a:rPr lang="tr-TR" b="0" i="0" dirty="0" err="1">
                <a:effectLst/>
                <a:latin typeface="Verdana" panose="020B0604030504040204" pitchFamily="34" charset="0"/>
                <a:ea typeface="Verdana" panose="020B0604030504040204" pitchFamily="34" charset="0"/>
                <a:cs typeface="Verdana" panose="020B0604030504040204" pitchFamily="34" charset="0"/>
              </a:rPr>
              <a:t>anything</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from</a:t>
            </a:r>
            <a:r>
              <a:rPr lang="tr-TR" b="0" i="0" dirty="0">
                <a:effectLst/>
                <a:latin typeface="Verdana" panose="020B0604030504040204" pitchFamily="34" charset="0"/>
                <a:ea typeface="Verdana" panose="020B0604030504040204" pitchFamily="34" charset="0"/>
                <a:cs typeface="Verdana" panose="020B0604030504040204" pitchFamily="34" charset="0"/>
              </a:rPr>
              <a:t> a </a:t>
            </a:r>
            <a:r>
              <a:rPr lang="tr-TR" b="0" i="0" dirty="0" err="1">
                <a:effectLst/>
                <a:latin typeface="Verdana" panose="020B0604030504040204" pitchFamily="34" charset="0"/>
                <a:ea typeface="Verdana" panose="020B0604030504040204" pitchFamily="34" charset="0"/>
                <a:cs typeface="Verdana" panose="020B0604030504040204" pitchFamily="34" charset="0"/>
              </a:rPr>
              <a:t>fake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news</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article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to</a:t>
            </a:r>
            <a:r>
              <a:rPr lang="tr-TR" b="0" i="0" dirty="0">
                <a:effectLst/>
                <a:latin typeface="Verdana" panose="020B0604030504040204" pitchFamily="34" charset="0"/>
                <a:ea typeface="Verdana" panose="020B0604030504040204" pitchFamily="34" charset="0"/>
                <a:cs typeface="Verdana" panose="020B0604030504040204" pitchFamily="34" charset="0"/>
              </a:rPr>
              <a:t> a </a:t>
            </a:r>
            <a:r>
              <a:rPr lang="tr-TR" b="0" i="0" dirty="0" err="1">
                <a:effectLst/>
                <a:latin typeface="Verdana" panose="020B0604030504040204" pitchFamily="34" charset="0"/>
                <a:ea typeface="Verdana" panose="020B0604030504040204" pitchFamily="34" charset="0"/>
                <a:cs typeface="Verdana" panose="020B0604030504040204" pitchFamily="34" charset="0"/>
              </a:rPr>
              <a:t>made-up</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social</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media</a:t>
            </a:r>
            <a:r>
              <a:rPr lang="tr-TR" b="0" i="0" dirty="0">
                <a:effectLst/>
                <a:latin typeface="Verdana" panose="020B0604030504040204" pitchFamily="34" charset="0"/>
                <a:ea typeface="Verdana" panose="020B0604030504040204" pitchFamily="34" charset="0"/>
                <a:cs typeface="Verdana" panose="020B0604030504040204" pitchFamily="34" charset="0"/>
              </a:rPr>
              <a:t> post.</a:t>
            </a:r>
            <a:r>
              <a:rPr lang="tr-TR" spc="20" dirty="0"/>
              <a:t>[1]</a:t>
            </a:r>
            <a:r>
              <a:rPr spc="-145" dirty="0"/>
              <a:t>.</a:t>
            </a:r>
          </a:p>
        </p:txBody>
      </p:sp>
      <p:sp>
        <p:nvSpPr>
          <p:cNvPr id="5" name="object 5"/>
          <p:cNvSpPr/>
          <p:nvPr/>
        </p:nvSpPr>
        <p:spPr>
          <a:xfrm>
            <a:off x="1511" y="312864"/>
            <a:ext cx="2483485" cy="36830"/>
          </a:xfrm>
          <a:custGeom>
            <a:avLst/>
            <a:gdLst/>
            <a:ahLst/>
            <a:cxnLst/>
            <a:rect l="l" t="t" r="r" b="b"/>
            <a:pathLst>
              <a:path w="2483485" h="36829">
                <a:moveTo>
                  <a:pt x="2483002" y="0"/>
                </a:moveTo>
                <a:lnTo>
                  <a:pt x="0" y="0"/>
                </a:lnTo>
                <a:lnTo>
                  <a:pt x="0" y="36525"/>
                </a:lnTo>
                <a:lnTo>
                  <a:pt x="2483002" y="36525"/>
                </a:lnTo>
                <a:lnTo>
                  <a:pt x="2483002" y="0"/>
                </a:lnTo>
                <a:close/>
              </a:path>
            </a:pathLst>
          </a:custGeom>
          <a:solidFill>
            <a:srgbClr val="000000"/>
          </a:solidFill>
        </p:spPr>
        <p:txBody>
          <a:bodyPr wrap="square" lIns="0" tIns="0" rIns="0" bIns="0" rtlCol="0"/>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7382" y="1490246"/>
            <a:ext cx="5093262" cy="1433916"/>
          </a:xfrm>
          <a:prstGeom prst="rect">
            <a:avLst/>
          </a:prstGeom>
        </p:spPr>
      </p:pic>
      <p:sp>
        <p:nvSpPr>
          <p:cNvPr id="3" name="object 3"/>
          <p:cNvSpPr txBox="1">
            <a:spLocks noGrp="1"/>
          </p:cNvSpPr>
          <p:nvPr>
            <p:ph type="title"/>
          </p:nvPr>
        </p:nvSpPr>
        <p:spPr>
          <a:xfrm>
            <a:off x="363346" y="251652"/>
            <a:ext cx="2609850" cy="758541"/>
          </a:xfrm>
          <a:prstGeom prst="rect">
            <a:avLst/>
          </a:prstGeom>
        </p:spPr>
        <p:txBody>
          <a:bodyPr vert="horz" wrap="square" lIns="0" tIns="27305" rIns="0" bIns="0" rtlCol="0">
            <a:spAutoFit/>
          </a:bodyPr>
          <a:lstStyle/>
          <a:p>
            <a:pPr algn="l"/>
            <a:r>
              <a:rPr lang="tr-TR" b="0" i="0" dirty="0">
                <a:effectLst/>
                <a:latin typeface="Verdana" panose="020B0604030504040204" pitchFamily="34" charset="0"/>
                <a:ea typeface="Verdana" panose="020B0604030504040204" pitchFamily="34" charset="0"/>
                <a:cs typeface="Verdana" panose="020B0604030504040204" pitchFamily="34" charset="0"/>
              </a:rPr>
              <a:t>AI can be </a:t>
            </a:r>
            <a:r>
              <a:rPr lang="tr-TR" b="0" i="0" dirty="0" err="1">
                <a:effectLst/>
                <a:latin typeface="Verdana" panose="020B0604030504040204" pitchFamily="34" charset="0"/>
                <a:ea typeface="Verdana" panose="020B0604030504040204" pitchFamily="34" charset="0"/>
                <a:cs typeface="Verdana" panose="020B0604030504040204" pitchFamily="34" charset="0"/>
              </a:rPr>
              <a:t>used</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to</a:t>
            </a:r>
            <a:r>
              <a:rPr lang="tr-TR" b="0" i="0" dirty="0">
                <a:effectLst/>
                <a:latin typeface="Verdana" panose="020B0604030504040204" pitchFamily="34" charset="0"/>
                <a:ea typeface="Verdana" panose="020B0604030504040204" pitchFamily="34" charset="0"/>
                <a:cs typeface="Verdana" panose="020B0604030504040204" pitchFamily="34" charset="0"/>
              </a:rPr>
              <a:t> spread </a:t>
            </a:r>
            <a:r>
              <a:rPr lang="tr-TR" b="1" i="0" dirty="0" err="1">
                <a:effectLst/>
                <a:latin typeface="Verdana" panose="020B0604030504040204" pitchFamily="34" charset="0"/>
                <a:ea typeface="Verdana" panose="020B0604030504040204" pitchFamily="34" charset="0"/>
                <a:cs typeface="Verdana" panose="020B0604030504040204" pitchFamily="34" charset="0"/>
              </a:rPr>
              <a:t>fake</a:t>
            </a:r>
            <a:r>
              <a:rPr lang="tr-TR" b="1" i="0" dirty="0">
                <a:effectLst/>
                <a:latin typeface="Verdana" panose="020B0604030504040204" pitchFamily="34" charset="0"/>
                <a:ea typeface="Verdana" panose="020B0604030504040204" pitchFamily="34" charset="0"/>
                <a:cs typeface="Verdana" panose="020B0604030504040204" pitchFamily="34" charset="0"/>
              </a:rPr>
              <a:t> </a:t>
            </a:r>
            <a:r>
              <a:rPr lang="tr-TR" b="1" i="0" dirty="0" err="1">
                <a:effectLst/>
                <a:latin typeface="Verdana" panose="020B0604030504040204" pitchFamily="34" charset="0"/>
                <a:ea typeface="Verdana" panose="020B0604030504040204" pitchFamily="34" charset="0"/>
                <a:cs typeface="Verdana" panose="020B0604030504040204" pitchFamily="34" charset="0"/>
              </a:rPr>
              <a:t>news</a:t>
            </a:r>
            <a:r>
              <a:rPr lang="tr-TR" b="0" i="0" dirty="0">
                <a:effectLst/>
                <a:latin typeface="Verdana" panose="020B0604030504040204" pitchFamily="34" charset="0"/>
                <a:ea typeface="Verdana" panose="020B0604030504040204" pitchFamily="34" charset="0"/>
                <a:cs typeface="Verdana" panose="020B0604030504040204" pitchFamily="34" charset="0"/>
              </a:rPr>
              <a:t>, but it can </a:t>
            </a:r>
            <a:r>
              <a:rPr lang="tr-TR" b="0" i="0" dirty="0" err="1">
                <a:effectLst/>
                <a:latin typeface="Verdana" panose="020B0604030504040204" pitchFamily="34" charset="0"/>
                <a:ea typeface="Verdana" panose="020B0604030504040204" pitchFamily="34" charset="0"/>
                <a:cs typeface="Verdana" panose="020B0604030504040204" pitchFamily="34" charset="0"/>
              </a:rPr>
              <a:t>also</a:t>
            </a:r>
            <a:r>
              <a:rPr lang="tr-TR" b="0" i="0" dirty="0">
                <a:effectLst/>
                <a:latin typeface="Verdana" panose="020B0604030504040204" pitchFamily="34" charset="0"/>
                <a:ea typeface="Verdana" panose="020B0604030504040204" pitchFamily="34" charset="0"/>
                <a:cs typeface="Verdana" panose="020B0604030504040204" pitchFamily="34" charset="0"/>
              </a:rPr>
              <a:t> be </a:t>
            </a:r>
            <a:r>
              <a:rPr lang="tr-TR" b="0" i="0" dirty="0" err="1">
                <a:effectLst/>
                <a:latin typeface="Verdana" panose="020B0604030504040204" pitchFamily="34" charset="0"/>
                <a:ea typeface="Verdana" panose="020B0604030504040204" pitchFamily="34" charset="0"/>
                <a:cs typeface="Verdana" panose="020B0604030504040204" pitchFamily="34" charset="0"/>
              </a:rPr>
              <a:t>used</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to</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fight</a:t>
            </a:r>
            <a:r>
              <a:rPr lang="tr-TR" b="0" i="0" dirty="0">
                <a:effectLst/>
                <a:latin typeface="Verdana" panose="020B0604030504040204" pitchFamily="34" charset="0"/>
                <a:ea typeface="Verdana" panose="020B0604030504040204" pitchFamily="34" charset="0"/>
                <a:cs typeface="Verdana" panose="020B0604030504040204" pitchFamily="34" charset="0"/>
              </a:rPr>
              <a:t> it. </a:t>
            </a:r>
            <a:r>
              <a:rPr lang="tr-TR" b="1" i="0" dirty="0">
                <a:effectLst/>
                <a:latin typeface="Verdana" panose="020B0604030504040204" pitchFamily="34" charset="0"/>
                <a:ea typeface="Verdana" panose="020B0604030504040204" pitchFamily="34" charset="0"/>
                <a:cs typeface="Verdana" panose="020B0604030504040204" pitchFamily="34" charset="0"/>
              </a:rPr>
              <a:t>AI</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bots</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1" i="0" dirty="0">
                <a:effectLst/>
                <a:latin typeface="Verdana" panose="020B0604030504040204" pitchFamily="34" charset="0"/>
                <a:ea typeface="Verdana" panose="020B0604030504040204" pitchFamily="34" charset="0"/>
                <a:cs typeface="Verdana" panose="020B0604030504040204" pitchFamily="34" charset="0"/>
              </a:rPr>
              <a:t>can post </a:t>
            </a:r>
            <a:r>
              <a:rPr lang="tr-TR" b="1" i="0" dirty="0" err="1">
                <a:effectLst/>
                <a:latin typeface="Verdana" panose="020B0604030504040204" pitchFamily="34" charset="0"/>
                <a:ea typeface="Verdana" panose="020B0604030504040204" pitchFamily="34" charset="0"/>
                <a:cs typeface="Verdana" panose="020B0604030504040204" pitchFamily="34" charset="0"/>
              </a:rPr>
              <a:t>fake</a:t>
            </a:r>
            <a:r>
              <a:rPr lang="tr-TR" b="1" i="0" dirty="0">
                <a:effectLst/>
                <a:latin typeface="Verdana" panose="020B0604030504040204" pitchFamily="34" charset="0"/>
                <a:ea typeface="Verdana" panose="020B0604030504040204" pitchFamily="34" charset="0"/>
                <a:cs typeface="Verdana" panose="020B0604030504040204" pitchFamily="34" charset="0"/>
              </a:rPr>
              <a:t> </a:t>
            </a:r>
            <a:r>
              <a:rPr lang="tr-TR" b="1" i="0" dirty="0" err="1">
                <a:effectLst/>
                <a:latin typeface="Verdana" panose="020B0604030504040204" pitchFamily="34" charset="0"/>
                <a:ea typeface="Verdana" panose="020B0604030504040204" pitchFamily="34" charset="0"/>
                <a:cs typeface="Verdana" panose="020B0604030504040204" pitchFamily="34" charset="0"/>
              </a:rPr>
              <a:t>articles</a:t>
            </a:r>
            <a:r>
              <a:rPr lang="tr-TR" b="1" i="0" dirty="0">
                <a:effectLst/>
                <a:latin typeface="Verdana" panose="020B0604030504040204" pitchFamily="34" charset="0"/>
                <a:ea typeface="Verdana" panose="020B0604030504040204" pitchFamily="34" charset="0"/>
                <a:cs typeface="Verdana" panose="020B0604030504040204" pitchFamily="34" charset="0"/>
              </a:rPr>
              <a:t> </a:t>
            </a:r>
            <a:r>
              <a:rPr lang="tr-TR" b="0" i="0" dirty="0">
                <a:effectLst/>
                <a:latin typeface="Verdana" panose="020B0604030504040204" pitchFamily="34" charset="0"/>
                <a:ea typeface="Verdana" panose="020B0604030504040204" pitchFamily="34" charset="0"/>
                <a:cs typeface="Verdana" panose="020B0604030504040204" pitchFamily="34" charset="0"/>
              </a:rPr>
              <a:t>on </a:t>
            </a:r>
            <a:r>
              <a:rPr lang="tr-TR" b="0" i="0" dirty="0" err="1">
                <a:effectLst/>
                <a:latin typeface="Verdana" panose="020B0604030504040204" pitchFamily="34" charset="0"/>
                <a:ea typeface="Verdana" panose="020B0604030504040204" pitchFamily="34" charset="0"/>
                <a:cs typeface="Verdana" panose="020B0604030504040204" pitchFamily="34" charset="0"/>
              </a:rPr>
              <a:t>social</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media</a:t>
            </a:r>
            <a:r>
              <a:rPr lang="tr-TR" b="0" i="0" dirty="0">
                <a:effectLst/>
                <a:latin typeface="Verdana" panose="020B0604030504040204" pitchFamily="34" charset="0"/>
                <a:ea typeface="Verdana" panose="020B0604030504040204" pitchFamily="34" charset="0"/>
                <a:cs typeface="Verdana" panose="020B0604030504040204" pitchFamily="34" charset="0"/>
              </a:rPr>
              <a:t>, but AI </a:t>
            </a:r>
            <a:r>
              <a:rPr lang="tr-TR" b="0" i="0" dirty="0" err="1">
                <a:effectLst/>
                <a:latin typeface="Verdana" panose="020B0604030504040204" pitchFamily="34" charset="0"/>
                <a:ea typeface="Verdana" panose="020B0604030504040204" pitchFamily="34" charset="0"/>
                <a:cs typeface="Verdana" panose="020B0604030504040204" pitchFamily="34" charset="0"/>
              </a:rPr>
              <a:t>algorithms</a:t>
            </a:r>
            <a:r>
              <a:rPr lang="tr-TR" b="0" i="0" dirty="0">
                <a:effectLst/>
                <a:latin typeface="Verdana" panose="020B0604030504040204" pitchFamily="34" charset="0"/>
                <a:ea typeface="Verdana" panose="020B0604030504040204" pitchFamily="34" charset="0"/>
                <a:cs typeface="Verdana" panose="020B0604030504040204" pitchFamily="34" charset="0"/>
              </a:rPr>
              <a:t> can </a:t>
            </a:r>
            <a:r>
              <a:rPr lang="tr-TR" b="0" i="0" dirty="0" err="1">
                <a:effectLst/>
                <a:latin typeface="Verdana" panose="020B0604030504040204" pitchFamily="34" charset="0"/>
                <a:ea typeface="Verdana" panose="020B0604030504040204" pitchFamily="34" charset="0"/>
                <a:cs typeface="Verdana" panose="020B0604030504040204" pitchFamily="34" charset="0"/>
              </a:rPr>
              <a:t>also</a:t>
            </a:r>
            <a:r>
              <a:rPr lang="tr-TR" b="0" i="0" dirty="0">
                <a:effectLst/>
                <a:latin typeface="Verdana" panose="020B0604030504040204" pitchFamily="34" charset="0"/>
                <a:ea typeface="Verdana" panose="020B0604030504040204" pitchFamily="34" charset="0"/>
                <a:cs typeface="Verdana" panose="020B0604030504040204" pitchFamily="34" charset="0"/>
              </a:rPr>
              <a:t> be </a:t>
            </a:r>
            <a:r>
              <a:rPr lang="tr-TR" b="0" i="0" dirty="0" err="1">
                <a:effectLst/>
                <a:latin typeface="Verdana" panose="020B0604030504040204" pitchFamily="34" charset="0"/>
                <a:ea typeface="Verdana" panose="020B0604030504040204" pitchFamily="34" charset="0"/>
                <a:cs typeface="Verdana" panose="020B0604030504040204" pitchFamily="34" charset="0"/>
              </a:rPr>
              <a:t>used</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to</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identify</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fake</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news</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articles</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and</a:t>
            </a:r>
            <a:r>
              <a:rPr lang="tr-TR" b="0" i="0" dirty="0">
                <a:effectLst/>
                <a:latin typeface="Verdana" panose="020B0604030504040204" pitchFamily="34" charset="0"/>
                <a:ea typeface="Verdana" panose="020B0604030504040204" pitchFamily="34" charset="0"/>
                <a:cs typeface="Verdana" panose="020B0604030504040204" pitchFamily="34" charset="0"/>
              </a:rPr>
              <a:t> </a:t>
            </a:r>
            <a:r>
              <a:rPr lang="tr-TR" b="1" i="0" dirty="0" err="1">
                <a:effectLst/>
                <a:latin typeface="Verdana" panose="020B0604030504040204" pitchFamily="34" charset="0"/>
                <a:ea typeface="Verdana" panose="020B0604030504040204" pitchFamily="34" charset="0"/>
                <a:cs typeface="Verdana" panose="020B0604030504040204" pitchFamily="34" charset="0"/>
              </a:rPr>
              <a:t>fact-check</a:t>
            </a:r>
            <a:r>
              <a:rPr lang="tr-TR" b="1" i="0" dirty="0">
                <a:effectLst/>
                <a:latin typeface="Verdana" panose="020B0604030504040204" pitchFamily="34" charset="0"/>
                <a:ea typeface="Verdana" panose="020B0604030504040204" pitchFamily="34" charset="0"/>
                <a:cs typeface="Verdana" panose="020B0604030504040204" pitchFamily="34" charset="0"/>
              </a:rPr>
              <a:t> </a:t>
            </a:r>
            <a:r>
              <a:rPr lang="tr-TR" b="0" i="0" dirty="0" err="1">
                <a:effectLst/>
                <a:latin typeface="Verdana" panose="020B0604030504040204" pitchFamily="34" charset="0"/>
                <a:ea typeface="Verdana" panose="020B0604030504040204" pitchFamily="34" charset="0"/>
                <a:cs typeface="Verdana" panose="020B0604030504040204" pitchFamily="34" charset="0"/>
              </a:rPr>
              <a:t>them</a:t>
            </a:r>
            <a:r>
              <a:rPr lang="tr-TR" b="0" i="0" dirty="0">
                <a:effectLst/>
                <a:latin typeface="Verdana" panose="020B0604030504040204" pitchFamily="34" charset="0"/>
                <a:ea typeface="Verdana" panose="020B0604030504040204" pitchFamily="34" charset="0"/>
                <a:cs typeface="Verdana" panose="020B0604030504040204" pitchFamily="34" charset="0"/>
              </a:rPr>
              <a:t>.</a:t>
            </a:r>
            <a:endParaRPr spc="-5" dirty="0">
              <a:latin typeface="Verdana" panose="020B0604030504040204" pitchFamily="34" charset="0"/>
              <a:ea typeface="Verdana" panose="020B0604030504040204" pitchFamily="34" charset="0"/>
              <a:cs typeface="Verdana" panose="020B0604030504040204" pitchFamily="34" charset="0"/>
            </a:endParaRPr>
          </a:p>
        </p:txBody>
      </p:sp>
      <p:sp>
        <p:nvSpPr>
          <p:cNvPr id="4" name="object 4"/>
          <p:cNvSpPr txBox="1"/>
          <p:nvPr/>
        </p:nvSpPr>
        <p:spPr>
          <a:xfrm>
            <a:off x="3399575" y="405433"/>
            <a:ext cx="2044064" cy="226695"/>
          </a:xfrm>
          <a:prstGeom prst="rect">
            <a:avLst/>
          </a:prstGeom>
        </p:spPr>
        <p:txBody>
          <a:bodyPr vert="horz" wrap="square" lIns="0" tIns="15240" rIns="0" bIns="0" rtlCol="0">
            <a:spAutoFit/>
          </a:bodyPr>
          <a:lstStyle/>
          <a:p>
            <a:pPr marL="12700">
              <a:lnSpc>
                <a:spcPct val="100000"/>
              </a:lnSpc>
              <a:spcBef>
                <a:spcPts val="120"/>
              </a:spcBef>
            </a:pPr>
            <a:r>
              <a:rPr sz="1300" b="1" spc="20" dirty="0">
                <a:latin typeface="Tahoma"/>
                <a:cs typeface="Tahoma"/>
              </a:rPr>
              <a:t>Role</a:t>
            </a:r>
            <a:r>
              <a:rPr sz="1300" b="1" spc="-30" dirty="0">
                <a:latin typeface="Tahoma"/>
                <a:cs typeface="Tahoma"/>
              </a:rPr>
              <a:t> </a:t>
            </a:r>
            <a:r>
              <a:rPr sz="1300" b="1" spc="15" dirty="0">
                <a:latin typeface="Tahoma"/>
                <a:cs typeface="Tahoma"/>
              </a:rPr>
              <a:t>of</a:t>
            </a:r>
            <a:r>
              <a:rPr sz="1300" b="1" spc="-25" dirty="0">
                <a:latin typeface="Tahoma"/>
                <a:cs typeface="Tahoma"/>
              </a:rPr>
              <a:t> </a:t>
            </a:r>
            <a:r>
              <a:rPr sz="1300" b="1" spc="-60" dirty="0">
                <a:latin typeface="Tahoma"/>
                <a:cs typeface="Tahoma"/>
              </a:rPr>
              <a:t>AI</a:t>
            </a:r>
            <a:r>
              <a:rPr sz="1300" b="1" spc="-25" dirty="0">
                <a:latin typeface="Tahoma"/>
                <a:cs typeface="Tahoma"/>
              </a:rPr>
              <a:t> </a:t>
            </a:r>
            <a:r>
              <a:rPr sz="1300" b="1" spc="25" dirty="0">
                <a:latin typeface="Tahoma"/>
                <a:cs typeface="Tahoma"/>
              </a:rPr>
              <a:t>in</a:t>
            </a:r>
            <a:r>
              <a:rPr sz="1300" b="1" spc="-25" dirty="0">
                <a:latin typeface="Tahoma"/>
                <a:cs typeface="Tahoma"/>
              </a:rPr>
              <a:t> </a:t>
            </a:r>
            <a:r>
              <a:rPr sz="1300" b="1" spc="35" dirty="0">
                <a:latin typeface="Tahoma"/>
                <a:cs typeface="Tahoma"/>
              </a:rPr>
              <a:t>Fake</a:t>
            </a:r>
            <a:r>
              <a:rPr sz="1300" b="1" spc="-30" dirty="0">
                <a:latin typeface="Tahoma"/>
                <a:cs typeface="Tahoma"/>
              </a:rPr>
              <a:t> </a:t>
            </a:r>
            <a:r>
              <a:rPr sz="1300" b="1" spc="35" dirty="0">
                <a:latin typeface="Tahoma"/>
                <a:cs typeface="Tahoma"/>
              </a:rPr>
              <a:t>News</a:t>
            </a:r>
            <a:endParaRPr sz="1300" dirty="0">
              <a:latin typeface="Tahoma"/>
              <a:cs typeface="Tahoma"/>
            </a:endParaRPr>
          </a:p>
        </p:txBody>
      </p:sp>
      <p:sp>
        <p:nvSpPr>
          <p:cNvPr id="5" name="object 5"/>
          <p:cNvSpPr/>
          <p:nvPr/>
        </p:nvSpPr>
        <p:spPr>
          <a:xfrm>
            <a:off x="3403790" y="305206"/>
            <a:ext cx="2443480" cy="36830"/>
          </a:xfrm>
          <a:custGeom>
            <a:avLst/>
            <a:gdLst/>
            <a:ahLst/>
            <a:cxnLst/>
            <a:rect l="l" t="t" r="r" b="b"/>
            <a:pathLst>
              <a:path w="2443479" h="36829">
                <a:moveTo>
                  <a:pt x="2442934" y="0"/>
                </a:moveTo>
                <a:lnTo>
                  <a:pt x="0" y="0"/>
                </a:lnTo>
                <a:lnTo>
                  <a:pt x="0" y="36550"/>
                </a:lnTo>
                <a:lnTo>
                  <a:pt x="2442934" y="36550"/>
                </a:lnTo>
                <a:lnTo>
                  <a:pt x="2442934" y="0"/>
                </a:lnTo>
                <a:close/>
              </a:path>
            </a:pathLst>
          </a:custGeom>
          <a:solidFill>
            <a:srgbClr val="000000"/>
          </a:solidFill>
        </p:spPr>
        <p:txBody>
          <a:bodyPr wrap="square" lIns="0" tIns="0" rIns="0" bIns="0" rtlCol="0"/>
          <a:lstStyle/>
          <a:p>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Resim 10" descr="Person doing presentation">
            <a:extLst>
              <a:ext uri="{FF2B5EF4-FFF2-40B4-BE49-F238E27FC236}">
                <a16:creationId xmlns:a16="http://schemas.microsoft.com/office/drawing/2014/main" id="{8CCCD59A-C93D-350D-5939-06F937BA94D3}"/>
              </a:ext>
            </a:extLst>
          </p:cNvPr>
          <p:cNvPicPr>
            <a:picLocks noChangeAspect="1"/>
          </p:cNvPicPr>
          <p:nvPr/>
        </p:nvPicPr>
        <p:blipFill>
          <a:blip r:embed="rId2" cstate="print">
            <a:extLst>
              <a:ext uri="{BEBA8EAE-BF5A-486C-A8C5-ECC9F3942E4B}">
                <a14:imgProps xmlns:a14="http://schemas.microsoft.com/office/drawing/2010/main">
                  <a14:imgLayer r:embed="rId3">
                    <a14:imgEffect>
                      <a14:saturation sat="29000"/>
                    </a14:imgEffect>
                  </a14:imgLayer>
                </a14:imgProps>
              </a:ext>
              <a:ext uri="{28A0092B-C50C-407E-A947-70E740481C1C}">
                <a14:useLocalDpi xmlns:a14="http://schemas.microsoft.com/office/drawing/2010/main" val="0"/>
              </a:ext>
            </a:extLst>
          </a:blip>
          <a:stretch>
            <a:fillRect/>
          </a:stretch>
        </p:blipFill>
        <p:spPr>
          <a:xfrm>
            <a:off x="3275504" y="178916"/>
            <a:ext cx="2462354" cy="1826086"/>
          </a:xfrm>
          <a:prstGeom prst="rect">
            <a:avLst/>
          </a:prstGeom>
          <a:ln>
            <a:solidFill>
              <a:schemeClr val="lt1">
                <a:hueOff val="0"/>
                <a:satOff val="0"/>
                <a:lumOff val="0"/>
              </a:schemeClr>
            </a:solidFill>
          </a:ln>
          <a:effectLst>
            <a:glow>
              <a:schemeClr val="accent1">
                <a:alpha val="40000"/>
              </a:schemeClr>
            </a:glow>
            <a:outerShdw blurRad="50800" dist="50800" dir="5400000" algn="ctr" rotWithShape="0">
              <a:srgbClr val="000000">
                <a:alpha val="0"/>
              </a:srgbClr>
            </a:outerShdw>
            <a:reflection stA="28000" endPos="31000" dist="50800" dir="5400000" sy="-100000" algn="bl" rotWithShape="0"/>
          </a:effectLst>
        </p:spPr>
      </p:pic>
      <p:sp>
        <p:nvSpPr>
          <p:cNvPr id="2" name="Başlık 1">
            <a:extLst>
              <a:ext uri="{FF2B5EF4-FFF2-40B4-BE49-F238E27FC236}">
                <a16:creationId xmlns:a16="http://schemas.microsoft.com/office/drawing/2014/main" id="{590967E2-04A8-EFC6-A85F-CD528932C0D6}"/>
              </a:ext>
            </a:extLst>
          </p:cNvPr>
          <p:cNvSpPr>
            <a:spLocks noGrp="1"/>
          </p:cNvSpPr>
          <p:nvPr>
            <p:ph type="ctrTitle"/>
          </p:nvPr>
        </p:nvSpPr>
        <p:spPr>
          <a:xfrm>
            <a:off x="64792" y="504825"/>
            <a:ext cx="4976495" cy="215444"/>
          </a:xfrm>
        </p:spPr>
        <p:txBody>
          <a:bodyPr/>
          <a:lstStyle/>
          <a:p>
            <a:r>
              <a:rPr lang="tr-TR" sz="1400" b="1" dirty="0" err="1">
                <a:latin typeface="Tahoma" panose="020B0604030504040204" pitchFamily="34" charset="0"/>
                <a:ea typeface="Tahoma" panose="020B0604030504040204" pitchFamily="34" charset="0"/>
                <a:cs typeface="Tahoma" panose="020B0604030504040204" pitchFamily="34" charset="0"/>
              </a:rPr>
              <a:t>Detecting</a:t>
            </a:r>
            <a:r>
              <a:rPr lang="tr-TR" sz="1400" b="1" dirty="0">
                <a:latin typeface="Tahoma" panose="020B0604030504040204" pitchFamily="34" charset="0"/>
                <a:ea typeface="Tahoma" panose="020B0604030504040204" pitchFamily="34" charset="0"/>
                <a:cs typeface="Tahoma" panose="020B0604030504040204" pitchFamily="34" charset="0"/>
              </a:rPr>
              <a:t> </a:t>
            </a:r>
            <a:r>
              <a:rPr lang="tr-TR" sz="1400" b="1" dirty="0" err="1">
                <a:latin typeface="Tahoma" panose="020B0604030504040204" pitchFamily="34" charset="0"/>
                <a:ea typeface="Tahoma" panose="020B0604030504040204" pitchFamily="34" charset="0"/>
                <a:cs typeface="Tahoma" panose="020B0604030504040204" pitchFamily="34" charset="0"/>
              </a:rPr>
              <a:t>Fake</a:t>
            </a:r>
            <a:r>
              <a:rPr lang="tr-TR" sz="1400" b="1" dirty="0">
                <a:latin typeface="Tahoma" panose="020B0604030504040204" pitchFamily="34" charset="0"/>
                <a:ea typeface="Tahoma" panose="020B0604030504040204" pitchFamily="34" charset="0"/>
                <a:cs typeface="Tahoma" panose="020B0604030504040204" pitchFamily="34" charset="0"/>
              </a:rPr>
              <a:t> News </a:t>
            </a:r>
            <a:r>
              <a:rPr lang="tr-TR" sz="1400" b="1" dirty="0" err="1">
                <a:latin typeface="Tahoma" panose="020B0604030504040204" pitchFamily="34" charset="0"/>
                <a:ea typeface="Tahoma" panose="020B0604030504040204" pitchFamily="34" charset="0"/>
                <a:cs typeface="Tahoma" panose="020B0604030504040204" pitchFamily="34" charset="0"/>
              </a:rPr>
              <a:t>with</a:t>
            </a:r>
            <a:r>
              <a:rPr lang="tr-TR" sz="1400" b="1" dirty="0">
                <a:latin typeface="Tahoma" panose="020B0604030504040204" pitchFamily="34" charset="0"/>
                <a:ea typeface="Tahoma" panose="020B0604030504040204" pitchFamily="34" charset="0"/>
                <a:cs typeface="Tahoma" panose="020B0604030504040204" pitchFamily="34" charset="0"/>
              </a:rPr>
              <a:t> AI</a:t>
            </a:r>
          </a:p>
        </p:txBody>
      </p:sp>
      <p:sp>
        <p:nvSpPr>
          <p:cNvPr id="3" name="Alt Başlık 2">
            <a:extLst>
              <a:ext uri="{FF2B5EF4-FFF2-40B4-BE49-F238E27FC236}">
                <a16:creationId xmlns:a16="http://schemas.microsoft.com/office/drawing/2014/main" id="{E30CD6EF-E52A-336C-D5EF-DCF5E1BD9460}"/>
              </a:ext>
            </a:extLst>
          </p:cNvPr>
          <p:cNvSpPr>
            <a:spLocks noGrp="1"/>
          </p:cNvSpPr>
          <p:nvPr>
            <p:ph type="subTitle" idx="4"/>
          </p:nvPr>
        </p:nvSpPr>
        <p:spPr>
          <a:xfrm>
            <a:off x="85307" y="972975"/>
            <a:ext cx="2994443" cy="553998"/>
          </a:xfrm>
        </p:spPr>
        <p:txBody>
          <a:bodyPr/>
          <a:lstStyle/>
          <a:p>
            <a:r>
              <a:rPr lang="tr-TR" sz="900" dirty="0" err="1">
                <a:latin typeface="Tahoma" panose="020B0604030504040204" pitchFamily="34" charset="0"/>
                <a:ea typeface="Tahoma" panose="020B0604030504040204" pitchFamily="34" charset="0"/>
                <a:cs typeface="Tahoma" panose="020B0604030504040204" pitchFamily="34" charset="0"/>
              </a:rPr>
              <a:t>What</a:t>
            </a:r>
            <a:r>
              <a:rPr lang="tr-TR" sz="900" dirty="0">
                <a:latin typeface="Tahoma" panose="020B0604030504040204" pitchFamily="34" charset="0"/>
                <a:ea typeface="Tahoma" panose="020B0604030504040204" pitchFamily="34" charset="0"/>
                <a:cs typeface="Tahoma" panose="020B0604030504040204" pitchFamily="34" charset="0"/>
              </a:rPr>
              <a:t> is </a:t>
            </a:r>
            <a:r>
              <a:rPr lang="tr-TR" sz="900" b="1" dirty="0">
                <a:latin typeface="Tahoma" panose="020B0604030504040204" pitchFamily="34" charset="0"/>
                <a:ea typeface="Tahoma" panose="020B0604030504040204" pitchFamily="34" charset="0"/>
                <a:cs typeface="Tahoma" panose="020B0604030504040204" pitchFamily="34" charset="0"/>
              </a:rPr>
              <a:t>TF-IDF</a:t>
            </a:r>
            <a:r>
              <a:rPr lang="tr-TR" sz="900" dirty="0">
                <a:latin typeface="Tahoma" panose="020B0604030504040204" pitchFamily="34" charset="0"/>
                <a:ea typeface="Tahoma" panose="020B0604030504040204" pitchFamily="34" charset="0"/>
                <a:cs typeface="Tahoma" panose="020B0604030504040204" pitchFamily="34" charset="0"/>
              </a:rPr>
              <a:t> (</a:t>
            </a:r>
            <a:r>
              <a:rPr lang="en-US" sz="900" i="0" dirty="0">
                <a:solidFill>
                  <a:srgbClr val="202122"/>
                </a:solidFill>
                <a:effectLst/>
                <a:latin typeface="Arial" panose="020B0604020202020204" pitchFamily="34" charset="0"/>
              </a:rPr>
              <a:t>term frequency–inverse document frequency</a:t>
            </a:r>
            <a:r>
              <a:rPr lang="tr-TR" sz="900" dirty="0">
                <a:latin typeface="Tahoma" panose="020B0604030504040204" pitchFamily="34" charset="0"/>
                <a:ea typeface="Tahoma" panose="020B0604030504040204" pitchFamily="34" charset="0"/>
                <a:cs typeface="Tahoma" panose="020B0604030504040204" pitchFamily="34" charset="0"/>
              </a:rPr>
              <a:t>) </a:t>
            </a:r>
            <a:r>
              <a:rPr lang="tr-TR" sz="900" dirty="0" err="1">
                <a:latin typeface="Tahoma" panose="020B0604030504040204" pitchFamily="34" charset="0"/>
                <a:ea typeface="Tahoma" panose="020B0604030504040204" pitchFamily="34" charset="0"/>
                <a:cs typeface="Tahoma" panose="020B0604030504040204" pitchFamily="34" charset="0"/>
              </a:rPr>
              <a:t>and</a:t>
            </a:r>
            <a:r>
              <a:rPr lang="tr-TR" sz="900" dirty="0">
                <a:latin typeface="Tahoma" panose="020B0604030504040204" pitchFamily="34" charset="0"/>
                <a:ea typeface="Tahoma" panose="020B0604030504040204" pitchFamily="34" charset="0"/>
                <a:cs typeface="Tahoma" panose="020B0604030504040204" pitchFamily="34" charset="0"/>
              </a:rPr>
              <a:t> </a:t>
            </a:r>
            <a:r>
              <a:rPr lang="tr-TR" sz="900" b="1" dirty="0" err="1">
                <a:latin typeface="Tahoma" panose="020B0604030504040204" pitchFamily="34" charset="0"/>
                <a:ea typeface="Tahoma" panose="020B0604030504040204" pitchFamily="34" charset="0"/>
                <a:cs typeface="Tahoma" panose="020B0604030504040204" pitchFamily="34" charset="0"/>
              </a:rPr>
              <a:t>why</a:t>
            </a:r>
            <a:r>
              <a:rPr lang="tr-TR" sz="900" b="1" dirty="0">
                <a:latin typeface="Tahoma" panose="020B0604030504040204" pitchFamily="34" charset="0"/>
                <a:ea typeface="Tahoma" panose="020B0604030504040204" pitchFamily="34" charset="0"/>
                <a:cs typeface="Tahoma" panose="020B0604030504040204" pitchFamily="34" charset="0"/>
              </a:rPr>
              <a:t> important</a:t>
            </a:r>
            <a:r>
              <a:rPr lang="tr-TR" sz="900" dirty="0">
                <a:latin typeface="Tahoma" panose="020B0604030504040204" pitchFamily="34" charset="0"/>
                <a:ea typeface="Tahoma" panose="020B0604030504040204" pitchFamily="34" charset="0"/>
                <a:cs typeface="Tahoma" panose="020B0604030504040204" pitchFamily="34" charset="0"/>
              </a:rPr>
              <a:t>?</a:t>
            </a:r>
          </a:p>
          <a:p>
            <a:endParaRPr lang="tr-TR" dirty="0"/>
          </a:p>
        </p:txBody>
      </p:sp>
      <p:graphicFrame>
        <p:nvGraphicFramePr>
          <p:cNvPr id="9" name="Metin kutusu 5">
            <a:extLst>
              <a:ext uri="{FF2B5EF4-FFF2-40B4-BE49-F238E27FC236}">
                <a16:creationId xmlns:a16="http://schemas.microsoft.com/office/drawing/2014/main" id="{96B656BF-68AF-0450-BD77-FB280650BC89}"/>
              </a:ext>
            </a:extLst>
          </p:cNvPr>
          <p:cNvGraphicFramePr/>
          <p:nvPr>
            <p:extLst>
              <p:ext uri="{D42A27DB-BD31-4B8C-83A1-F6EECF244321}">
                <p14:modId xmlns:p14="http://schemas.microsoft.com/office/powerpoint/2010/main" val="1331925516"/>
              </p:ext>
            </p:extLst>
          </p:nvPr>
        </p:nvGraphicFramePr>
        <p:xfrm>
          <a:off x="31750" y="2483031"/>
          <a:ext cx="5843465" cy="7848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7" name="object 5">
            <a:extLst>
              <a:ext uri="{FF2B5EF4-FFF2-40B4-BE49-F238E27FC236}">
                <a16:creationId xmlns:a16="http://schemas.microsoft.com/office/drawing/2014/main" id="{3B488DCD-516B-BBB6-7D17-DEC914DA448D}"/>
              </a:ext>
            </a:extLst>
          </p:cNvPr>
          <p:cNvSpPr/>
          <p:nvPr/>
        </p:nvSpPr>
        <p:spPr>
          <a:xfrm>
            <a:off x="64792" y="720269"/>
            <a:ext cx="2443480" cy="36830"/>
          </a:xfrm>
          <a:custGeom>
            <a:avLst/>
            <a:gdLst/>
            <a:ahLst/>
            <a:cxnLst/>
            <a:rect l="l" t="t" r="r" b="b"/>
            <a:pathLst>
              <a:path w="2443479" h="36829">
                <a:moveTo>
                  <a:pt x="2442934" y="0"/>
                </a:moveTo>
                <a:lnTo>
                  <a:pt x="0" y="0"/>
                </a:lnTo>
                <a:lnTo>
                  <a:pt x="0" y="36550"/>
                </a:lnTo>
                <a:lnTo>
                  <a:pt x="2442934" y="36550"/>
                </a:lnTo>
                <a:lnTo>
                  <a:pt x="2442934" y="0"/>
                </a:lnTo>
                <a:close/>
              </a:path>
            </a:pathLst>
          </a:custGeom>
          <a:solidFill>
            <a:srgbClr val="000000"/>
          </a:solidFill>
        </p:spPr>
        <p:txBody>
          <a:bodyPr wrap="square" lIns="0" tIns="0" rIns="0" bIns="0" rtlCol="0"/>
          <a:lstStyle/>
          <a:p>
            <a:endParaRPr/>
          </a:p>
        </p:txBody>
      </p:sp>
    </p:spTree>
    <p:extLst>
      <p:ext uri="{BB962C8B-B14F-4D97-AF65-F5344CB8AC3E}">
        <p14:creationId xmlns:p14="http://schemas.microsoft.com/office/powerpoint/2010/main" val="990513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AB54D2D-846B-E093-264F-66276A71E036}"/>
              </a:ext>
            </a:extLst>
          </p:cNvPr>
          <p:cNvSpPr>
            <a:spLocks noGrp="1"/>
          </p:cNvSpPr>
          <p:nvPr>
            <p:ph type="ctrTitle"/>
          </p:nvPr>
        </p:nvSpPr>
        <p:spPr>
          <a:xfrm>
            <a:off x="106120" y="493206"/>
            <a:ext cx="2667000" cy="492443"/>
          </a:xfrm>
        </p:spPr>
        <p:txBody>
          <a:bodyPr/>
          <a:lstStyle/>
          <a:p>
            <a:r>
              <a:rPr lang="tr-TR" sz="1600" b="1" dirty="0" err="1"/>
              <a:t>Naive</a:t>
            </a:r>
            <a:r>
              <a:rPr lang="tr-TR" sz="1600" b="1" dirty="0"/>
              <a:t> </a:t>
            </a:r>
            <a:r>
              <a:rPr lang="tr-TR" sz="1600" b="1" dirty="0" err="1"/>
              <a:t>Bayes</a:t>
            </a:r>
            <a:r>
              <a:rPr lang="tr-TR" sz="1600" b="1" dirty="0"/>
              <a:t> </a:t>
            </a:r>
            <a:r>
              <a:rPr lang="tr-TR" sz="1600" b="1" dirty="0" err="1"/>
              <a:t>Algorithm</a:t>
            </a:r>
            <a:endParaRPr lang="tr-TR" sz="1600" b="1" dirty="0"/>
          </a:p>
        </p:txBody>
      </p:sp>
      <p:sp>
        <p:nvSpPr>
          <p:cNvPr id="3" name="Alt Başlık 2">
            <a:extLst>
              <a:ext uri="{FF2B5EF4-FFF2-40B4-BE49-F238E27FC236}">
                <a16:creationId xmlns:a16="http://schemas.microsoft.com/office/drawing/2014/main" id="{4D839A95-C16B-FEC8-611A-8B66072646C5}"/>
              </a:ext>
            </a:extLst>
          </p:cNvPr>
          <p:cNvSpPr>
            <a:spLocks noGrp="1"/>
          </p:cNvSpPr>
          <p:nvPr>
            <p:ph type="subTitle" idx="4"/>
          </p:nvPr>
        </p:nvSpPr>
        <p:spPr>
          <a:xfrm>
            <a:off x="106120" y="1008083"/>
            <a:ext cx="2606675" cy="484748"/>
          </a:xfrm>
        </p:spPr>
        <p:txBody>
          <a:bodyPr/>
          <a:lstStyle/>
          <a:p>
            <a:pPr algn="l"/>
            <a:r>
              <a:rPr lang="en-US" sz="1050" b="1" dirty="0"/>
              <a:t>Naive Bayes </a:t>
            </a:r>
            <a:r>
              <a:rPr lang="en-US" sz="1050" dirty="0"/>
              <a:t>algorithm is a supervised learning algorithm based on </a:t>
            </a:r>
            <a:r>
              <a:rPr lang="en-US" sz="1050" b="1" dirty="0"/>
              <a:t>Bayer's theorem </a:t>
            </a:r>
            <a:r>
              <a:rPr lang="en-US" sz="1050" dirty="0"/>
              <a:t>and used to solve classification problems.</a:t>
            </a:r>
            <a:r>
              <a:rPr lang="en-US" sz="1050" baseline="-25000" dirty="0"/>
              <a:t>[2]</a:t>
            </a:r>
            <a:endParaRPr lang="tr-TR" sz="1050" baseline="-25000" dirty="0"/>
          </a:p>
        </p:txBody>
      </p:sp>
      <p:sp>
        <p:nvSpPr>
          <p:cNvPr id="4" name="object 5">
            <a:extLst>
              <a:ext uri="{FF2B5EF4-FFF2-40B4-BE49-F238E27FC236}">
                <a16:creationId xmlns:a16="http://schemas.microsoft.com/office/drawing/2014/main" id="{D70FF437-4BE7-F29D-91D8-1C24436B1195}"/>
              </a:ext>
            </a:extLst>
          </p:cNvPr>
          <p:cNvSpPr/>
          <p:nvPr/>
        </p:nvSpPr>
        <p:spPr>
          <a:xfrm>
            <a:off x="107949" y="733425"/>
            <a:ext cx="2604845" cy="55546"/>
          </a:xfrm>
          <a:custGeom>
            <a:avLst/>
            <a:gdLst/>
            <a:ahLst/>
            <a:cxnLst/>
            <a:rect l="l" t="t" r="r" b="b"/>
            <a:pathLst>
              <a:path w="2443479" h="36829">
                <a:moveTo>
                  <a:pt x="2442934" y="0"/>
                </a:moveTo>
                <a:lnTo>
                  <a:pt x="0" y="0"/>
                </a:lnTo>
                <a:lnTo>
                  <a:pt x="0" y="36550"/>
                </a:lnTo>
                <a:lnTo>
                  <a:pt x="2442934" y="36550"/>
                </a:lnTo>
                <a:lnTo>
                  <a:pt x="2442934" y="0"/>
                </a:lnTo>
                <a:close/>
              </a:path>
            </a:pathLst>
          </a:custGeom>
          <a:solidFill>
            <a:srgbClr val="000000"/>
          </a:solidFill>
        </p:spPr>
        <p:txBody>
          <a:bodyPr wrap="square" lIns="0" tIns="0" rIns="0" bIns="0" rtlCol="0"/>
          <a:lstStyle/>
          <a:p>
            <a:endParaRPr/>
          </a:p>
        </p:txBody>
      </p:sp>
      <p:pic>
        <p:nvPicPr>
          <p:cNvPr id="2050" name="Picture 2" descr="Naive Bayes Algorithm: Theory, Assumptions &amp; Implementation">
            <a:extLst>
              <a:ext uri="{FF2B5EF4-FFF2-40B4-BE49-F238E27FC236}">
                <a16:creationId xmlns:a16="http://schemas.microsoft.com/office/drawing/2014/main" id="{8EF509FC-D93E-8E65-1DF5-71A94566C4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0981" y="524163"/>
            <a:ext cx="2551999" cy="922973"/>
          </a:xfrm>
          <a:prstGeom prst="rect">
            <a:avLst/>
          </a:prstGeom>
          <a:noFill/>
          <a:extLst>
            <a:ext uri="{909E8E84-426E-40DD-AFC4-6F175D3DCCD1}">
              <a14:hiddenFill xmlns:a14="http://schemas.microsoft.com/office/drawing/2010/main">
                <a:solidFill>
                  <a:srgbClr val="FFFFFF"/>
                </a:solidFill>
              </a14:hiddenFill>
            </a:ext>
          </a:extLst>
        </p:spPr>
      </p:pic>
      <p:sp>
        <p:nvSpPr>
          <p:cNvPr id="8" name="Metin kutusu 7">
            <a:extLst>
              <a:ext uri="{FF2B5EF4-FFF2-40B4-BE49-F238E27FC236}">
                <a16:creationId xmlns:a16="http://schemas.microsoft.com/office/drawing/2014/main" id="{D12D9EAB-2AAE-6206-FCCE-7DCA583FDAD8}"/>
              </a:ext>
            </a:extLst>
          </p:cNvPr>
          <p:cNvSpPr txBox="1"/>
          <p:nvPr/>
        </p:nvSpPr>
        <p:spPr>
          <a:xfrm>
            <a:off x="2910775" y="2053069"/>
            <a:ext cx="2743200" cy="923330"/>
          </a:xfrm>
          <a:prstGeom prst="rect">
            <a:avLst/>
          </a:prstGeom>
          <a:noFill/>
        </p:spPr>
        <p:txBody>
          <a:bodyPr wrap="square" rtlCol="0">
            <a:spAutoFit/>
          </a:bodyPr>
          <a:lstStyle/>
          <a:p>
            <a:r>
              <a:rPr lang="en-US" sz="900" b="1" dirty="0"/>
              <a:t>P(A|B)</a:t>
            </a:r>
            <a:r>
              <a:rPr lang="en-US" sz="900" dirty="0"/>
              <a:t> is the probability of occurrence of event A when event B occurs. </a:t>
            </a:r>
          </a:p>
          <a:p>
            <a:r>
              <a:rPr lang="en-US" sz="900" b="1" dirty="0"/>
              <a:t>P(B|A)</a:t>
            </a:r>
            <a:r>
              <a:rPr lang="en-US" sz="900" dirty="0"/>
              <a:t> is the probability of occurrence of event</a:t>
            </a:r>
            <a:r>
              <a:rPr lang="tr-TR" sz="900" dirty="0"/>
              <a:t> B</a:t>
            </a:r>
            <a:r>
              <a:rPr lang="en-US" sz="900" dirty="0"/>
              <a:t> when event</a:t>
            </a:r>
            <a:r>
              <a:rPr lang="tr-TR" sz="900" dirty="0"/>
              <a:t> A</a:t>
            </a:r>
            <a:r>
              <a:rPr lang="en-US" sz="900" dirty="0"/>
              <a:t> occurs. </a:t>
            </a:r>
            <a:endParaRPr lang="tr-TR" sz="900" dirty="0"/>
          </a:p>
          <a:p>
            <a:r>
              <a:rPr lang="en-US" sz="900" b="1" dirty="0"/>
              <a:t>P(A)</a:t>
            </a:r>
            <a:r>
              <a:rPr lang="en-US" sz="900" dirty="0"/>
              <a:t> and </a:t>
            </a:r>
            <a:r>
              <a:rPr lang="en-US" sz="900" b="1" dirty="0"/>
              <a:t>P(B)</a:t>
            </a:r>
            <a:r>
              <a:rPr lang="en-US" sz="900" dirty="0"/>
              <a:t> are the a priori probabilities of events A and B.</a:t>
            </a:r>
            <a:endParaRPr lang="tr-TR" sz="900" dirty="0"/>
          </a:p>
        </p:txBody>
      </p:sp>
      <p:sp>
        <p:nvSpPr>
          <p:cNvPr id="9" name="Ok: Aşağı 8">
            <a:extLst>
              <a:ext uri="{FF2B5EF4-FFF2-40B4-BE49-F238E27FC236}">
                <a16:creationId xmlns:a16="http://schemas.microsoft.com/office/drawing/2014/main" id="{D98B29A9-804B-B931-DFFA-4B2F9F04F5B2}"/>
              </a:ext>
            </a:extLst>
          </p:cNvPr>
          <p:cNvSpPr/>
          <p:nvPr/>
        </p:nvSpPr>
        <p:spPr>
          <a:xfrm>
            <a:off x="3934664" y="1509355"/>
            <a:ext cx="484632" cy="445008"/>
          </a:xfrm>
          <a:prstGeom prst="down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tr-TR" dirty="0"/>
          </a:p>
        </p:txBody>
      </p:sp>
    </p:spTree>
    <p:extLst>
      <p:ext uri="{BB962C8B-B14F-4D97-AF65-F5344CB8AC3E}">
        <p14:creationId xmlns:p14="http://schemas.microsoft.com/office/powerpoint/2010/main" val="770246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4C06DB3-7392-B59D-D282-2944FDF96C6D}"/>
              </a:ext>
            </a:extLst>
          </p:cNvPr>
          <p:cNvSpPr>
            <a:spLocks noGrp="1"/>
          </p:cNvSpPr>
          <p:nvPr>
            <p:ph type="ctrTitle"/>
          </p:nvPr>
        </p:nvSpPr>
        <p:spPr>
          <a:xfrm>
            <a:off x="184150" y="352425"/>
            <a:ext cx="2514600" cy="246221"/>
          </a:xfrm>
        </p:spPr>
        <p:txBody>
          <a:bodyPr/>
          <a:lstStyle/>
          <a:p>
            <a:r>
              <a:rPr lang="tr-TR" sz="1600" b="1" dirty="0" err="1"/>
              <a:t>Result</a:t>
            </a:r>
            <a:r>
              <a:rPr lang="tr-TR" sz="1600" b="1" dirty="0"/>
              <a:t> of </a:t>
            </a:r>
            <a:r>
              <a:rPr lang="tr-TR" sz="1600" b="1" dirty="0" err="1"/>
              <a:t>Naive</a:t>
            </a:r>
            <a:r>
              <a:rPr lang="tr-TR" sz="1600" b="1" dirty="0"/>
              <a:t> </a:t>
            </a:r>
            <a:r>
              <a:rPr lang="tr-TR" sz="1600" b="1" dirty="0" err="1"/>
              <a:t>Bayes</a:t>
            </a:r>
            <a:endParaRPr lang="tr-TR" sz="1600" b="1" dirty="0"/>
          </a:p>
        </p:txBody>
      </p:sp>
      <p:sp>
        <p:nvSpPr>
          <p:cNvPr id="3" name="Alt Başlık 2">
            <a:extLst>
              <a:ext uri="{FF2B5EF4-FFF2-40B4-BE49-F238E27FC236}">
                <a16:creationId xmlns:a16="http://schemas.microsoft.com/office/drawing/2014/main" id="{A67F52DE-807B-CEA0-7E8E-7856418CA845}"/>
              </a:ext>
            </a:extLst>
          </p:cNvPr>
          <p:cNvSpPr>
            <a:spLocks noGrp="1"/>
          </p:cNvSpPr>
          <p:nvPr>
            <p:ph type="subTitle" idx="4"/>
          </p:nvPr>
        </p:nvSpPr>
        <p:spPr>
          <a:xfrm>
            <a:off x="336550" y="934170"/>
            <a:ext cx="2125345" cy="138499"/>
          </a:xfrm>
        </p:spPr>
        <p:txBody>
          <a:bodyPr/>
          <a:lstStyle/>
          <a:p>
            <a:r>
              <a:rPr lang="tr-TR" sz="900" b="1" dirty="0"/>
              <a:t>Precision</a:t>
            </a:r>
          </a:p>
        </p:txBody>
      </p:sp>
      <p:sp>
        <p:nvSpPr>
          <p:cNvPr id="4" name="object 5">
            <a:extLst>
              <a:ext uri="{FF2B5EF4-FFF2-40B4-BE49-F238E27FC236}">
                <a16:creationId xmlns:a16="http://schemas.microsoft.com/office/drawing/2014/main" id="{67063CF7-DAED-E9DE-BED5-CCF23C93E360}"/>
              </a:ext>
            </a:extLst>
          </p:cNvPr>
          <p:cNvSpPr/>
          <p:nvPr/>
        </p:nvSpPr>
        <p:spPr>
          <a:xfrm>
            <a:off x="184150" y="626174"/>
            <a:ext cx="2443480" cy="36830"/>
          </a:xfrm>
          <a:custGeom>
            <a:avLst/>
            <a:gdLst/>
            <a:ahLst/>
            <a:cxnLst/>
            <a:rect l="l" t="t" r="r" b="b"/>
            <a:pathLst>
              <a:path w="2443479" h="36829">
                <a:moveTo>
                  <a:pt x="2442934" y="0"/>
                </a:moveTo>
                <a:lnTo>
                  <a:pt x="0" y="0"/>
                </a:lnTo>
                <a:lnTo>
                  <a:pt x="0" y="36550"/>
                </a:lnTo>
                <a:lnTo>
                  <a:pt x="2442934" y="36550"/>
                </a:lnTo>
                <a:lnTo>
                  <a:pt x="2442934" y="0"/>
                </a:lnTo>
                <a:close/>
              </a:path>
            </a:pathLst>
          </a:custGeom>
          <a:solidFill>
            <a:srgbClr val="000000"/>
          </a:solidFill>
        </p:spPr>
        <p:txBody>
          <a:bodyPr wrap="square" lIns="0" tIns="0" rIns="0" bIns="0" rtlCol="0"/>
          <a:lstStyle/>
          <a:p>
            <a:endParaRPr/>
          </a:p>
        </p:txBody>
      </p:sp>
      <p:pic>
        <p:nvPicPr>
          <p:cNvPr id="8" name="Resim 7">
            <a:extLst>
              <a:ext uri="{FF2B5EF4-FFF2-40B4-BE49-F238E27FC236}">
                <a16:creationId xmlns:a16="http://schemas.microsoft.com/office/drawing/2014/main" id="{C86BFF20-3A45-C03A-77CE-389654AABFDA}"/>
              </a:ext>
            </a:extLst>
          </p:cNvPr>
          <p:cNvPicPr>
            <a:picLocks noChangeAspect="1"/>
          </p:cNvPicPr>
          <p:nvPr/>
        </p:nvPicPr>
        <p:blipFill>
          <a:blip r:embed="rId2"/>
          <a:stretch>
            <a:fillRect/>
          </a:stretch>
        </p:blipFill>
        <p:spPr>
          <a:xfrm>
            <a:off x="314056" y="1105553"/>
            <a:ext cx="1928699" cy="542272"/>
          </a:xfrm>
          <a:prstGeom prst="rect">
            <a:avLst/>
          </a:prstGeom>
        </p:spPr>
      </p:pic>
      <p:pic>
        <p:nvPicPr>
          <p:cNvPr id="11" name="Resim 10">
            <a:extLst>
              <a:ext uri="{FF2B5EF4-FFF2-40B4-BE49-F238E27FC236}">
                <a16:creationId xmlns:a16="http://schemas.microsoft.com/office/drawing/2014/main" id="{46D8C0BA-FD36-C09D-7923-21AC83139CCB}"/>
              </a:ext>
            </a:extLst>
          </p:cNvPr>
          <p:cNvPicPr>
            <a:picLocks noChangeAspect="1"/>
          </p:cNvPicPr>
          <p:nvPr/>
        </p:nvPicPr>
        <p:blipFill>
          <a:blip r:embed="rId3"/>
          <a:stretch>
            <a:fillRect/>
          </a:stretch>
        </p:blipFill>
        <p:spPr>
          <a:xfrm>
            <a:off x="45660" y="1851466"/>
            <a:ext cx="3103447" cy="1042343"/>
          </a:xfrm>
          <a:prstGeom prst="rect">
            <a:avLst/>
          </a:prstGeom>
        </p:spPr>
      </p:pic>
      <p:pic>
        <p:nvPicPr>
          <p:cNvPr id="14" name="Resim 13">
            <a:extLst>
              <a:ext uri="{FF2B5EF4-FFF2-40B4-BE49-F238E27FC236}">
                <a16:creationId xmlns:a16="http://schemas.microsoft.com/office/drawing/2014/main" id="{B2F23DB2-5C7E-D2F2-EBA8-634C927D93CE}"/>
              </a:ext>
            </a:extLst>
          </p:cNvPr>
          <p:cNvPicPr>
            <a:picLocks noChangeAspect="1"/>
          </p:cNvPicPr>
          <p:nvPr/>
        </p:nvPicPr>
        <p:blipFill>
          <a:blip r:embed="rId4"/>
          <a:stretch>
            <a:fillRect/>
          </a:stretch>
        </p:blipFill>
        <p:spPr>
          <a:xfrm>
            <a:off x="2242755" y="903114"/>
            <a:ext cx="1794776" cy="883994"/>
          </a:xfrm>
          <a:prstGeom prst="rect">
            <a:avLst/>
          </a:prstGeom>
        </p:spPr>
      </p:pic>
      <p:sp>
        <p:nvSpPr>
          <p:cNvPr id="16" name="Metin kutusu 15">
            <a:extLst>
              <a:ext uri="{FF2B5EF4-FFF2-40B4-BE49-F238E27FC236}">
                <a16:creationId xmlns:a16="http://schemas.microsoft.com/office/drawing/2014/main" id="{35C22D01-CAB6-AF8F-C46F-E97EF37891D0}"/>
              </a:ext>
            </a:extLst>
          </p:cNvPr>
          <p:cNvSpPr txBox="1"/>
          <p:nvPr/>
        </p:nvSpPr>
        <p:spPr>
          <a:xfrm>
            <a:off x="2242755" y="862633"/>
            <a:ext cx="1538960" cy="230832"/>
          </a:xfrm>
          <a:prstGeom prst="rect">
            <a:avLst/>
          </a:prstGeom>
          <a:noFill/>
        </p:spPr>
        <p:txBody>
          <a:bodyPr wrap="square">
            <a:spAutoFit/>
          </a:bodyPr>
          <a:lstStyle/>
          <a:p>
            <a:r>
              <a:rPr lang="tr-TR" sz="900" b="1" dirty="0" err="1"/>
              <a:t>Recall</a:t>
            </a:r>
            <a:endParaRPr lang="tr-TR" sz="1050" b="1" dirty="0"/>
          </a:p>
        </p:txBody>
      </p:sp>
      <p:pic>
        <p:nvPicPr>
          <p:cNvPr id="18" name="Resim 17">
            <a:extLst>
              <a:ext uri="{FF2B5EF4-FFF2-40B4-BE49-F238E27FC236}">
                <a16:creationId xmlns:a16="http://schemas.microsoft.com/office/drawing/2014/main" id="{4E0148BB-A17A-FF7B-E7DE-83AFB770B7B1}"/>
              </a:ext>
            </a:extLst>
          </p:cNvPr>
          <p:cNvPicPr>
            <a:picLocks noChangeAspect="1"/>
          </p:cNvPicPr>
          <p:nvPr/>
        </p:nvPicPr>
        <p:blipFill>
          <a:blip r:embed="rId5"/>
          <a:stretch>
            <a:fillRect/>
          </a:stretch>
        </p:blipFill>
        <p:spPr>
          <a:xfrm>
            <a:off x="4085416" y="1032896"/>
            <a:ext cx="1634254" cy="636723"/>
          </a:xfrm>
          <a:prstGeom prst="rect">
            <a:avLst/>
          </a:prstGeom>
        </p:spPr>
      </p:pic>
      <p:sp>
        <p:nvSpPr>
          <p:cNvPr id="20" name="Metin kutusu 19">
            <a:extLst>
              <a:ext uri="{FF2B5EF4-FFF2-40B4-BE49-F238E27FC236}">
                <a16:creationId xmlns:a16="http://schemas.microsoft.com/office/drawing/2014/main" id="{6C26B1A0-A610-BDFD-0A96-D4697EFB38F7}"/>
              </a:ext>
            </a:extLst>
          </p:cNvPr>
          <p:cNvSpPr txBox="1"/>
          <p:nvPr/>
        </p:nvSpPr>
        <p:spPr>
          <a:xfrm>
            <a:off x="4146377" y="888003"/>
            <a:ext cx="929360" cy="230832"/>
          </a:xfrm>
          <a:prstGeom prst="rect">
            <a:avLst/>
          </a:prstGeom>
          <a:noFill/>
        </p:spPr>
        <p:txBody>
          <a:bodyPr wrap="square">
            <a:spAutoFit/>
          </a:bodyPr>
          <a:lstStyle/>
          <a:p>
            <a:r>
              <a:rPr lang="tr-TR" sz="900" b="1" dirty="0"/>
              <a:t>F </a:t>
            </a:r>
            <a:r>
              <a:rPr lang="tr-TR" sz="900" b="1" dirty="0" err="1"/>
              <a:t>Score</a:t>
            </a:r>
            <a:endParaRPr lang="tr-TR" sz="900" dirty="0"/>
          </a:p>
        </p:txBody>
      </p:sp>
      <p:sp>
        <p:nvSpPr>
          <p:cNvPr id="21" name="Metin kutusu 20">
            <a:extLst>
              <a:ext uri="{FF2B5EF4-FFF2-40B4-BE49-F238E27FC236}">
                <a16:creationId xmlns:a16="http://schemas.microsoft.com/office/drawing/2014/main" id="{02F58132-99AF-0EE7-6885-11EDB86B32DA}"/>
              </a:ext>
            </a:extLst>
          </p:cNvPr>
          <p:cNvSpPr txBox="1"/>
          <p:nvPr/>
        </p:nvSpPr>
        <p:spPr>
          <a:xfrm>
            <a:off x="2034815" y="2796069"/>
            <a:ext cx="3960571" cy="338554"/>
          </a:xfrm>
          <a:prstGeom prst="rect">
            <a:avLst/>
          </a:prstGeom>
          <a:noFill/>
        </p:spPr>
        <p:txBody>
          <a:bodyPr wrap="none" rtlCol="0">
            <a:spAutoFit/>
          </a:bodyPr>
          <a:lstStyle/>
          <a:p>
            <a:r>
              <a:rPr lang="tr-TR" sz="1600" b="1" dirty="0" err="1"/>
              <a:t>Naive</a:t>
            </a:r>
            <a:r>
              <a:rPr lang="tr-TR" sz="1600" b="1" dirty="0"/>
              <a:t> </a:t>
            </a:r>
            <a:r>
              <a:rPr lang="tr-TR" sz="1600" b="1" dirty="0" err="1"/>
              <a:t>Bayes</a:t>
            </a:r>
            <a:r>
              <a:rPr lang="tr-TR" sz="1600" b="1" dirty="0"/>
              <a:t> </a:t>
            </a:r>
            <a:r>
              <a:rPr lang="tr-TR" sz="1600" dirty="0"/>
              <a:t>can </a:t>
            </a:r>
            <a:r>
              <a:rPr lang="tr-TR" sz="1600" dirty="0" err="1"/>
              <a:t>detect</a:t>
            </a:r>
            <a:r>
              <a:rPr lang="tr-TR" sz="1600" dirty="0"/>
              <a:t> 89% of </a:t>
            </a:r>
            <a:r>
              <a:rPr lang="tr-TR" sz="1600" dirty="0" err="1"/>
              <a:t>fake</a:t>
            </a:r>
            <a:r>
              <a:rPr lang="tr-TR" sz="1600" dirty="0"/>
              <a:t> </a:t>
            </a:r>
            <a:r>
              <a:rPr lang="tr-TR" sz="1600" dirty="0" err="1"/>
              <a:t>news</a:t>
            </a:r>
            <a:r>
              <a:rPr lang="tr-TR" sz="1600" dirty="0"/>
              <a:t>! </a:t>
            </a:r>
            <a:r>
              <a:rPr lang="tr-TR" sz="1600" baseline="-25000" dirty="0"/>
              <a:t>[3]</a:t>
            </a:r>
          </a:p>
        </p:txBody>
      </p:sp>
      <p:sp>
        <p:nvSpPr>
          <p:cNvPr id="25" name="Metin kutusu 24">
            <a:extLst>
              <a:ext uri="{FF2B5EF4-FFF2-40B4-BE49-F238E27FC236}">
                <a16:creationId xmlns:a16="http://schemas.microsoft.com/office/drawing/2014/main" id="{40F911EB-526D-808A-CE75-3F639C9B9D83}"/>
              </a:ext>
            </a:extLst>
          </p:cNvPr>
          <p:cNvSpPr txBox="1"/>
          <p:nvPr/>
        </p:nvSpPr>
        <p:spPr>
          <a:xfrm>
            <a:off x="2698750" y="385301"/>
            <a:ext cx="2443480" cy="261610"/>
          </a:xfrm>
          <a:prstGeom prst="rect">
            <a:avLst/>
          </a:prstGeom>
          <a:noFill/>
        </p:spPr>
        <p:txBody>
          <a:bodyPr wrap="square">
            <a:spAutoFit/>
          </a:bodyPr>
          <a:lstStyle/>
          <a:p>
            <a:r>
              <a:rPr lang="tr-TR" sz="1100" u="sng" dirty="0"/>
              <a:t>(How </a:t>
            </a:r>
            <a:r>
              <a:rPr lang="tr-TR" sz="1100" u="sng" dirty="0" err="1"/>
              <a:t>good</a:t>
            </a:r>
            <a:r>
              <a:rPr lang="tr-TR" sz="1100" u="sng" dirty="0"/>
              <a:t> is this?)</a:t>
            </a:r>
          </a:p>
        </p:txBody>
      </p:sp>
    </p:spTree>
    <p:extLst>
      <p:ext uri="{BB962C8B-B14F-4D97-AF65-F5344CB8AC3E}">
        <p14:creationId xmlns:p14="http://schemas.microsoft.com/office/powerpoint/2010/main" val="1884417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78332" y="504907"/>
            <a:ext cx="2520753" cy="2420291"/>
          </a:xfrm>
          <a:prstGeom prst="rect">
            <a:avLst/>
          </a:prstGeom>
        </p:spPr>
      </p:pic>
      <p:sp>
        <p:nvSpPr>
          <p:cNvPr id="3" name="object 3"/>
          <p:cNvSpPr txBox="1"/>
          <p:nvPr/>
        </p:nvSpPr>
        <p:spPr>
          <a:xfrm>
            <a:off x="3407501" y="852033"/>
            <a:ext cx="2070735" cy="780342"/>
          </a:xfrm>
          <a:prstGeom prst="rect">
            <a:avLst/>
          </a:prstGeom>
        </p:spPr>
        <p:txBody>
          <a:bodyPr vert="horz" wrap="square" lIns="0" tIns="10795" rIns="0" bIns="0" rtlCol="0">
            <a:spAutoFit/>
          </a:bodyPr>
          <a:lstStyle/>
          <a:p>
            <a:pPr algn="l"/>
            <a:r>
              <a:rPr lang="tr-TR" sz="1000" b="0" i="0" dirty="0" err="1">
                <a:effectLst/>
                <a:latin typeface="Google Sans"/>
              </a:rPr>
              <a:t>Fake</a:t>
            </a:r>
            <a:r>
              <a:rPr lang="tr-TR" sz="1000" b="0" i="0" dirty="0">
                <a:effectLst/>
                <a:latin typeface="Google Sans"/>
              </a:rPr>
              <a:t> </a:t>
            </a:r>
            <a:r>
              <a:rPr lang="tr-TR" sz="1000" b="0" i="0" dirty="0" err="1">
                <a:effectLst/>
                <a:latin typeface="Google Sans"/>
              </a:rPr>
              <a:t>news</a:t>
            </a:r>
            <a:r>
              <a:rPr lang="tr-TR" sz="1000" b="0" i="0" dirty="0">
                <a:effectLst/>
                <a:latin typeface="Google Sans"/>
              </a:rPr>
              <a:t> is </a:t>
            </a:r>
            <a:r>
              <a:rPr lang="tr-TR" sz="1000" b="0" i="0" dirty="0" err="1">
                <a:effectLst/>
                <a:latin typeface="Google Sans"/>
              </a:rPr>
              <a:t>made-up</a:t>
            </a:r>
            <a:r>
              <a:rPr lang="tr-TR" sz="1000" b="0" i="0" dirty="0">
                <a:effectLst/>
                <a:latin typeface="Google Sans"/>
              </a:rPr>
              <a:t> </a:t>
            </a:r>
            <a:r>
              <a:rPr lang="tr-TR" sz="1000" b="0" i="0" dirty="0" err="1">
                <a:effectLst/>
                <a:latin typeface="Google Sans"/>
              </a:rPr>
              <a:t>information</a:t>
            </a:r>
            <a:r>
              <a:rPr lang="tr-TR" sz="1000" b="0" i="0" dirty="0">
                <a:effectLst/>
                <a:latin typeface="Google Sans"/>
              </a:rPr>
              <a:t> </a:t>
            </a:r>
            <a:r>
              <a:rPr lang="tr-TR" sz="1000" b="0" i="0" dirty="0" err="1">
                <a:effectLst/>
                <a:latin typeface="Google Sans"/>
              </a:rPr>
              <a:t>that</a:t>
            </a:r>
            <a:r>
              <a:rPr lang="tr-TR" sz="1000" b="0" i="0" dirty="0">
                <a:effectLst/>
                <a:latin typeface="Google Sans"/>
              </a:rPr>
              <a:t> is spread </a:t>
            </a:r>
            <a:r>
              <a:rPr lang="tr-TR" sz="1000" b="0" i="0" dirty="0" err="1">
                <a:effectLst/>
                <a:latin typeface="Google Sans"/>
              </a:rPr>
              <a:t>to</a:t>
            </a:r>
            <a:r>
              <a:rPr lang="tr-TR" sz="1000" b="0" i="0" dirty="0">
                <a:effectLst/>
                <a:latin typeface="Google Sans"/>
              </a:rPr>
              <a:t> </a:t>
            </a:r>
            <a:r>
              <a:rPr lang="tr-TR" sz="1000" i="0" dirty="0" err="1">
                <a:effectLst/>
                <a:latin typeface="Google Sans"/>
              </a:rPr>
              <a:t>misleading</a:t>
            </a:r>
            <a:r>
              <a:rPr lang="tr-TR" sz="1000" b="0" i="0" dirty="0">
                <a:effectLst/>
                <a:latin typeface="Google Sans"/>
              </a:rPr>
              <a:t> </a:t>
            </a:r>
            <a:r>
              <a:rPr lang="tr-TR" sz="1000" b="0" i="0" dirty="0" err="1">
                <a:effectLst/>
                <a:latin typeface="Google Sans"/>
              </a:rPr>
              <a:t>people</a:t>
            </a:r>
            <a:r>
              <a:rPr lang="tr-TR" sz="1000" b="0" i="0" dirty="0">
                <a:effectLst/>
                <a:latin typeface="Google Sans"/>
              </a:rPr>
              <a:t>. </a:t>
            </a:r>
            <a:r>
              <a:rPr lang="tr-TR" sz="1000" b="1" i="0" dirty="0">
                <a:effectLst/>
                <a:latin typeface="Google Sans"/>
              </a:rPr>
              <a:t>AI can be </a:t>
            </a:r>
            <a:r>
              <a:rPr lang="tr-TR" sz="1000" b="1" i="0" dirty="0" err="1">
                <a:effectLst/>
                <a:latin typeface="Google Sans"/>
              </a:rPr>
              <a:t>used</a:t>
            </a:r>
            <a:r>
              <a:rPr lang="tr-TR" sz="1000" b="1" i="0" dirty="0">
                <a:effectLst/>
                <a:latin typeface="Google Sans"/>
              </a:rPr>
              <a:t> </a:t>
            </a:r>
            <a:r>
              <a:rPr lang="tr-TR" sz="1000" b="1" i="0" dirty="0" err="1">
                <a:effectLst/>
                <a:latin typeface="Google Sans"/>
              </a:rPr>
              <a:t>to</a:t>
            </a:r>
            <a:r>
              <a:rPr lang="tr-TR" sz="1000" b="1" i="0" dirty="0">
                <a:effectLst/>
                <a:latin typeface="Google Sans"/>
              </a:rPr>
              <a:t> spread </a:t>
            </a:r>
            <a:r>
              <a:rPr lang="tr-TR" sz="1000" b="1" i="0" dirty="0" err="1">
                <a:effectLst/>
                <a:latin typeface="Google Sans"/>
              </a:rPr>
              <a:t>fake</a:t>
            </a:r>
            <a:r>
              <a:rPr lang="tr-TR" sz="1000" b="1" i="0" dirty="0">
                <a:effectLst/>
                <a:latin typeface="Google Sans"/>
              </a:rPr>
              <a:t> </a:t>
            </a:r>
            <a:r>
              <a:rPr lang="tr-TR" sz="1000" b="1" i="0" dirty="0" err="1">
                <a:effectLst/>
                <a:latin typeface="Google Sans"/>
              </a:rPr>
              <a:t>news</a:t>
            </a:r>
            <a:r>
              <a:rPr lang="tr-TR" sz="1000" b="1" i="0" dirty="0">
                <a:effectLst/>
                <a:latin typeface="Google Sans"/>
              </a:rPr>
              <a:t> </a:t>
            </a:r>
            <a:r>
              <a:rPr lang="tr-TR" sz="1000" b="1" i="0" dirty="0" err="1">
                <a:effectLst/>
                <a:latin typeface="Google Sans"/>
              </a:rPr>
              <a:t>more</a:t>
            </a:r>
            <a:r>
              <a:rPr lang="tr-TR" sz="1000" b="1" i="0" dirty="0">
                <a:effectLst/>
                <a:latin typeface="Google Sans"/>
              </a:rPr>
              <a:t> </a:t>
            </a:r>
            <a:r>
              <a:rPr lang="tr-TR" sz="1000" b="1" i="0" dirty="0" err="1">
                <a:effectLst/>
                <a:latin typeface="Google Sans"/>
              </a:rPr>
              <a:t>easily</a:t>
            </a:r>
            <a:r>
              <a:rPr lang="tr-TR" sz="1000" b="1" i="0" dirty="0">
                <a:effectLst/>
                <a:latin typeface="Google Sans"/>
              </a:rPr>
              <a:t>, but it can </a:t>
            </a:r>
            <a:r>
              <a:rPr lang="tr-TR" sz="1000" b="1" i="0" dirty="0" err="1">
                <a:effectLst/>
                <a:latin typeface="Google Sans"/>
              </a:rPr>
              <a:t>also</a:t>
            </a:r>
            <a:r>
              <a:rPr lang="tr-TR" sz="1000" b="1" i="0" dirty="0">
                <a:effectLst/>
                <a:latin typeface="Google Sans"/>
              </a:rPr>
              <a:t> be </a:t>
            </a:r>
            <a:r>
              <a:rPr lang="tr-TR" sz="1000" b="1" i="0" dirty="0" err="1">
                <a:effectLst/>
                <a:latin typeface="Google Sans"/>
              </a:rPr>
              <a:t>used</a:t>
            </a:r>
            <a:r>
              <a:rPr lang="tr-TR" sz="1000" b="1" i="0" dirty="0">
                <a:effectLst/>
                <a:latin typeface="Google Sans"/>
              </a:rPr>
              <a:t> </a:t>
            </a:r>
            <a:r>
              <a:rPr lang="tr-TR" sz="1000" b="1" i="0" dirty="0" err="1">
                <a:effectLst/>
                <a:latin typeface="Google Sans"/>
              </a:rPr>
              <a:t>to</a:t>
            </a:r>
            <a:r>
              <a:rPr lang="tr-TR" sz="1000" b="1" i="0" dirty="0">
                <a:effectLst/>
                <a:latin typeface="Google Sans"/>
              </a:rPr>
              <a:t> </a:t>
            </a:r>
            <a:r>
              <a:rPr lang="tr-TR" sz="1000" b="1" i="0" dirty="0" err="1">
                <a:effectLst/>
                <a:latin typeface="Google Sans"/>
              </a:rPr>
              <a:t>find</a:t>
            </a:r>
            <a:r>
              <a:rPr lang="tr-TR" sz="1000" b="1" i="0" dirty="0">
                <a:effectLst/>
                <a:latin typeface="Google Sans"/>
              </a:rPr>
              <a:t> </a:t>
            </a:r>
            <a:r>
              <a:rPr lang="tr-TR" sz="1000" b="1" i="0" dirty="0" err="1">
                <a:effectLst/>
                <a:latin typeface="Google Sans"/>
              </a:rPr>
              <a:t>fake</a:t>
            </a:r>
            <a:r>
              <a:rPr lang="tr-TR" sz="1000" b="1" i="0" dirty="0">
                <a:effectLst/>
                <a:latin typeface="Google Sans"/>
              </a:rPr>
              <a:t> </a:t>
            </a:r>
            <a:r>
              <a:rPr lang="tr-TR" sz="1000" b="1" i="0" dirty="0" err="1">
                <a:effectLst/>
                <a:latin typeface="Google Sans"/>
              </a:rPr>
              <a:t>news</a:t>
            </a:r>
            <a:r>
              <a:rPr lang="tr-TR" sz="1000" b="1" i="0" dirty="0">
                <a:effectLst/>
                <a:latin typeface="Google Sans"/>
              </a:rPr>
              <a:t> </a:t>
            </a:r>
            <a:r>
              <a:rPr lang="tr-TR" sz="1000" b="1" i="0" dirty="0" err="1">
                <a:effectLst/>
                <a:latin typeface="Google Sans"/>
              </a:rPr>
              <a:t>and</a:t>
            </a:r>
            <a:r>
              <a:rPr lang="tr-TR" sz="1000" b="1" i="0" dirty="0">
                <a:effectLst/>
                <a:latin typeface="Google Sans"/>
              </a:rPr>
              <a:t> stop it.</a:t>
            </a:r>
          </a:p>
        </p:txBody>
      </p:sp>
      <p:sp>
        <p:nvSpPr>
          <p:cNvPr id="4" name="object 4"/>
          <p:cNvSpPr txBox="1">
            <a:spLocks noGrp="1"/>
          </p:cNvSpPr>
          <p:nvPr>
            <p:ph type="title"/>
          </p:nvPr>
        </p:nvSpPr>
        <p:spPr>
          <a:xfrm>
            <a:off x="3407505" y="407272"/>
            <a:ext cx="985519" cy="226695"/>
          </a:xfrm>
          <a:prstGeom prst="rect">
            <a:avLst/>
          </a:prstGeom>
        </p:spPr>
        <p:txBody>
          <a:bodyPr vert="horz" wrap="square" lIns="0" tIns="15240" rIns="0" bIns="0" rtlCol="0">
            <a:spAutoFit/>
          </a:bodyPr>
          <a:lstStyle/>
          <a:p>
            <a:pPr marL="12700">
              <a:lnSpc>
                <a:spcPct val="100000"/>
              </a:lnSpc>
              <a:spcBef>
                <a:spcPts val="120"/>
              </a:spcBef>
            </a:pPr>
            <a:r>
              <a:rPr sz="1300" b="1" spc="40" dirty="0">
                <a:latin typeface="Tahoma"/>
                <a:cs typeface="Tahoma"/>
              </a:rPr>
              <a:t>Conclusion</a:t>
            </a:r>
            <a:endParaRPr sz="1300" dirty="0">
              <a:latin typeface="Tahoma"/>
              <a:cs typeface="Tahoma"/>
            </a:endParaRPr>
          </a:p>
        </p:txBody>
      </p:sp>
      <p:sp>
        <p:nvSpPr>
          <p:cNvPr id="5" name="object 5"/>
          <p:cNvSpPr/>
          <p:nvPr/>
        </p:nvSpPr>
        <p:spPr>
          <a:xfrm>
            <a:off x="3401923" y="308127"/>
            <a:ext cx="2445385" cy="36830"/>
          </a:xfrm>
          <a:custGeom>
            <a:avLst/>
            <a:gdLst/>
            <a:ahLst/>
            <a:cxnLst/>
            <a:rect l="l" t="t" r="r" b="b"/>
            <a:pathLst>
              <a:path w="2445385" h="36829">
                <a:moveTo>
                  <a:pt x="2444800" y="0"/>
                </a:moveTo>
                <a:lnTo>
                  <a:pt x="0" y="0"/>
                </a:lnTo>
                <a:lnTo>
                  <a:pt x="0" y="36525"/>
                </a:lnTo>
                <a:lnTo>
                  <a:pt x="2444800" y="36525"/>
                </a:lnTo>
                <a:lnTo>
                  <a:pt x="2444800" y="0"/>
                </a:lnTo>
                <a:close/>
              </a:path>
            </a:pathLst>
          </a:custGeom>
          <a:solidFill>
            <a:srgbClr val="000000"/>
          </a:solidFill>
        </p:spPr>
        <p:txBody>
          <a:bodyPr wrap="square" lIns="0" tIns="0" rIns="0" bIns="0" rtlCol="0"/>
          <a:lstStyle/>
          <a:p>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7F03F1A-DBC0-0A0B-D82E-89A4108E1B8B}"/>
              </a:ext>
            </a:extLst>
          </p:cNvPr>
          <p:cNvSpPr>
            <a:spLocks noGrp="1"/>
          </p:cNvSpPr>
          <p:nvPr>
            <p:ph type="title"/>
          </p:nvPr>
        </p:nvSpPr>
        <p:spPr>
          <a:xfrm>
            <a:off x="387173" y="255640"/>
            <a:ext cx="5080352" cy="1007968"/>
          </a:xfrm>
        </p:spPr>
        <p:txBody>
          <a:bodyPr/>
          <a:lstStyle/>
          <a:p>
            <a:r>
              <a:rPr lang="tr-TR" sz="1800" b="1" dirty="0" err="1"/>
              <a:t>Resources</a:t>
            </a:r>
            <a:br>
              <a:rPr lang="tr-TR" dirty="0"/>
            </a:br>
            <a:br>
              <a:rPr lang="tr-TR" dirty="0"/>
            </a:br>
            <a:r>
              <a:rPr lang="tr-TR" dirty="0"/>
              <a:t>[1]</a:t>
            </a:r>
            <a:r>
              <a:rPr lang="tr-TR" dirty="0">
                <a:hlinkClick r:id="rId2"/>
              </a:rPr>
              <a:t>https://www.sciencedirect.com/science/article/abs/pii/S0378437119317546#fig4</a:t>
            </a:r>
            <a:br>
              <a:rPr lang="tr-TR" dirty="0"/>
            </a:br>
            <a:r>
              <a:rPr lang="tr-TR" dirty="0"/>
              <a:t>[2]</a:t>
            </a:r>
            <a:r>
              <a:rPr lang="tr-TR" dirty="0" err="1"/>
              <a:t>https</a:t>
            </a:r>
            <a:r>
              <a:rPr lang="tr-TR" dirty="0"/>
              <a:t>://</a:t>
            </a:r>
            <a:r>
              <a:rPr lang="tr-TR" dirty="0" err="1"/>
              <a:t>www.sciencedirect.com</a:t>
            </a:r>
            <a:r>
              <a:rPr lang="tr-TR" dirty="0"/>
              <a:t>/</a:t>
            </a:r>
            <a:r>
              <a:rPr lang="tr-TR" dirty="0" err="1"/>
              <a:t>science</a:t>
            </a:r>
            <a:r>
              <a:rPr lang="tr-TR" dirty="0"/>
              <a:t>/</a:t>
            </a:r>
            <a:r>
              <a:rPr lang="tr-TR" dirty="0" err="1"/>
              <a:t>article</a:t>
            </a:r>
            <a:r>
              <a:rPr lang="tr-TR" dirty="0"/>
              <a:t>/</a:t>
            </a:r>
            <a:r>
              <a:rPr lang="tr-TR" dirty="0" err="1"/>
              <a:t>abs</a:t>
            </a:r>
            <a:r>
              <a:rPr lang="tr-TR" dirty="0"/>
              <a:t>/</a:t>
            </a:r>
            <a:r>
              <a:rPr lang="tr-TR" dirty="0" err="1"/>
              <a:t>pii</a:t>
            </a:r>
            <a:r>
              <a:rPr lang="tr-TR" dirty="0"/>
              <a:t>/S0925231223001376</a:t>
            </a:r>
            <a:br>
              <a:rPr lang="tr-TR" dirty="0"/>
            </a:br>
            <a:r>
              <a:rPr lang="tr-TR" dirty="0"/>
              <a:t>[3]</a:t>
            </a:r>
            <a:r>
              <a:rPr lang="tr-TR" dirty="0" err="1"/>
              <a:t>https</a:t>
            </a:r>
            <a:r>
              <a:rPr lang="tr-TR" dirty="0"/>
              <a:t>://</a:t>
            </a:r>
            <a:r>
              <a:rPr lang="tr-TR" dirty="0" err="1"/>
              <a:t>dergipark.org.tr</a:t>
            </a:r>
            <a:r>
              <a:rPr lang="tr-TR" dirty="0"/>
              <a:t>/en/</a:t>
            </a:r>
            <a:r>
              <a:rPr lang="tr-TR" dirty="0" err="1"/>
              <a:t>download</a:t>
            </a:r>
            <a:r>
              <a:rPr lang="tr-TR" dirty="0"/>
              <a:t>/</a:t>
            </a:r>
            <a:r>
              <a:rPr lang="tr-TR" dirty="0" err="1"/>
              <a:t>article</a:t>
            </a:r>
            <a:r>
              <a:rPr lang="tr-TR" dirty="0"/>
              <a:t>-file/3015090</a:t>
            </a:r>
          </a:p>
        </p:txBody>
      </p:sp>
    </p:spTree>
    <p:extLst>
      <p:ext uri="{BB962C8B-B14F-4D97-AF65-F5344CB8AC3E}">
        <p14:creationId xmlns:p14="http://schemas.microsoft.com/office/powerpoint/2010/main" val="414483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40040" y="1770033"/>
            <a:ext cx="1969135" cy="194945"/>
          </a:xfrm>
          <a:prstGeom prst="rect">
            <a:avLst/>
          </a:prstGeom>
        </p:spPr>
        <p:txBody>
          <a:bodyPr vert="horz" wrap="square" lIns="0" tIns="13970" rIns="0" bIns="0" rtlCol="0">
            <a:spAutoFit/>
          </a:bodyPr>
          <a:lstStyle/>
          <a:p>
            <a:pPr marL="12700">
              <a:lnSpc>
                <a:spcPct val="100000"/>
              </a:lnSpc>
              <a:spcBef>
                <a:spcPts val="110"/>
              </a:spcBef>
            </a:pPr>
            <a:r>
              <a:rPr sz="1100" i="1" spc="30" dirty="0">
                <a:latin typeface="Verdana"/>
                <a:cs typeface="Verdana"/>
              </a:rPr>
              <a:t>Do</a:t>
            </a:r>
            <a:r>
              <a:rPr sz="1100" i="1" spc="-100" dirty="0">
                <a:latin typeface="Verdana"/>
                <a:cs typeface="Verdana"/>
              </a:rPr>
              <a:t> </a:t>
            </a:r>
            <a:r>
              <a:rPr sz="1100" i="1" spc="-70" dirty="0">
                <a:latin typeface="Verdana"/>
                <a:cs typeface="Verdana"/>
              </a:rPr>
              <a:t>y</a:t>
            </a:r>
            <a:r>
              <a:rPr sz="1100" i="1" spc="25" dirty="0">
                <a:latin typeface="Verdana"/>
                <a:cs typeface="Verdana"/>
              </a:rPr>
              <a:t>ou</a:t>
            </a:r>
            <a:r>
              <a:rPr sz="1100" i="1" spc="-100" dirty="0">
                <a:latin typeface="Verdana"/>
                <a:cs typeface="Verdana"/>
              </a:rPr>
              <a:t> </a:t>
            </a:r>
            <a:r>
              <a:rPr sz="1100" i="1" spc="10" dirty="0">
                <a:latin typeface="Verdana"/>
                <a:cs typeface="Verdana"/>
              </a:rPr>
              <a:t>h</a:t>
            </a:r>
            <a:r>
              <a:rPr sz="1100" i="1" spc="-5" dirty="0">
                <a:latin typeface="Verdana"/>
                <a:cs typeface="Verdana"/>
              </a:rPr>
              <a:t>a</a:t>
            </a:r>
            <a:r>
              <a:rPr sz="1100" i="1" spc="-70" dirty="0">
                <a:latin typeface="Verdana"/>
                <a:cs typeface="Verdana"/>
              </a:rPr>
              <a:t>v</a:t>
            </a:r>
            <a:r>
              <a:rPr sz="1100" i="1" dirty="0">
                <a:latin typeface="Verdana"/>
                <a:cs typeface="Verdana"/>
              </a:rPr>
              <a:t>e</a:t>
            </a:r>
            <a:r>
              <a:rPr sz="1100" i="1" spc="-100" dirty="0">
                <a:latin typeface="Verdana"/>
                <a:cs typeface="Verdana"/>
              </a:rPr>
              <a:t> </a:t>
            </a:r>
            <a:r>
              <a:rPr sz="1100" i="1" spc="10" dirty="0">
                <a:latin typeface="Verdana"/>
                <a:cs typeface="Verdana"/>
              </a:rPr>
              <a:t>a</a:t>
            </a:r>
            <a:r>
              <a:rPr sz="1100" i="1" spc="-5" dirty="0">
                <a:latin typeface="Verdana"/>
                <a:cs typeface="Verdana"/>
              </a:rPr>
              <a:t>n</a:t>
            </a:r>
            <a:r>
              <a:rPr sz="1100" i="1" spc="-50" dirty="0">
                <a:latin typeface="Verdana"/>
                <a:cs typeface="Verdana"/>
              </a:rPr>
              <a:t>y</a:t>
            </a:r>
            <a:r>
              <a:rPr sz="1100" i="1" spc="-100" dirty="0">
                <a:latin typeface="Verdana"/>
                <a:cs typeface="Verdana"/>
              </a:rPr>
              <a:t> </a:t>
            </a:r>
            <a:r>
              <a:rPr sz="1100" i="1" spc="15" dirty="0">
                <a:latin typeface="Verdana"/>
                <a:cs typeface="Verdana"/>
              </a:rPr>
              <a:t>ques</a:t>
            </a:r>
            <a:r>
              <a:rPr sz="1100" i="1" spc="5" dirty="0">
                <a:latin typeface="Verdana"/>
                <a:cs typeface="Verdana"/>
              </a:rPr>
              <a:t>t</a:t>
            </a:r>
            <a:r>
              <a:rPr sz="1100" i="1" spc="-5" dirty="0">
                <a:latin typeface="Verdana"/>
                <a:cs typeface="Verdana"/>
              </a:rPr>
              <a:t>i</a:t>
            </a:r>
            <a:r>
              <a:rPr sz="1100" i="1" spc="15" dirty="0">
                <a:latin typeface="Verdana"/>
                <a:cs typeface="Verdana"/>
              </a:rPr>
              <a:t>o</a:t>
            </a:r>
            <a:r>
              <a:rPr sz="1100" i="1" dirty="0">
                <a:latin typeface="Verdana"/>
                <a:cs typeface="Verdana"/>
              </a:rPr>
              <a:t>n</a:t>
            </a:r>
            <a:r>
              <a:rPr sz="1100" i="1" spc="-20" dirty="0">
                <a:latin typeface="Verdana"/>
                <a:cs typeface="Verdana"/>
              </a:rPr>
              <a:t>s</a:t>
            </a:r>
            <a:r>
              <a:rPr sz="1100" i="1" spc="15" dirty="0">
                <a:latin typeface="Verdana"/>
                <a:cs typeface="Verdana"/>
              </a:rPr>
              <a:t>?</a:t>
            </a:r>
            <a:endParaRPr sz="1100">
              <a:latin typeface="Verdana"/>
              <a:cs typeface="Verdana"/>
            </a:endParaRPr>
          </a:p>
        </p:txBody>
      </p:sp>
      <p:sp>
        <p:nvSpPr>
          <p:cNvPr id="3" name="object 3"/>
          <p:cNvSpPr txBox="1">
            <a:spLocks noGrp="1"/>
          </p:cNvSpPr>
          <p:nvPr>
            <p:ph type="title"/>
          </p:nvPr>
        </p:nvSpPr>
        <p:spPr>
          <a:xfrm>
            <a:off x="2152372" y="1206098"/>
            <a:ext cx="1544320" cy="482600"/>
          </a:xfrm>
          <a:prstGeom prst="rect">
            <a:avLst/>
          </a:prstGeom>
        </p:spPr>
        <p:txBody>
          <a:bodyPr vert="horz" wrap="square" lIns="0" tIns="12065" rIns="0" bIns="0" rtlCol="0">
            <a:spAutoFit/>
          </a:bodyPr>
          <a:lstStyle/>
          <a:p>
            <a:pPr marL="12700">
              <a:lnSpc>
                <a:spcPct val="100000"/>
              </a:lnSpc>
              <a:spcBef>
                <a:spcPts val="95"/>
              </a:spcBef>
            </a:pPr>
            <a:r>
              <a:rPr sz="3000" b="1" spc="10" dirty="0">
                <a:latin typeface="Tahoma"/>
                <a:cs typeface="Tahoma"/>
              </a:rPr>
              <a:t>Thanks!</a:t>
            </a:r>
            <a:endParaRPr sz="3000">
              <a:latin typeface="Tahoma"/>
              <a:cs typeface="Tahoma"/>
            </a:endParaRPr>
          </a:p>
        </p:txBody>
      </p:sp>
      <p:sp>
        <p:nvSpPr>
          <p:cNvPr id="4" name="object 4"/>
          <p:cNvSpPr/>
          <p:nvPr/>
        </p:nvSpPr>
        <p:spPr>
          <a:xfrm>
            <a:off x="1511" y="313639"/>
            <a:ext cx="2483485" cy="36830"/>
          </a:xfrm>
          <a:custGeom>
            <a:avLst/>
            <a:gdLst/>
            <a:ahLst/>
            <a:cxnLst/>
            <a:rect l="l" t="t" r="r" b="b"/>
            <a:pathLst>
              <a:path w="2483485" h="36829">
                <a:moveTo>
                  <a:pt x="2483002" y="0"/>
                </a:moveTo>
                <a:lnTo>
                  <a:pt x="0" y="0"/>
                </a:lnTo>
                <a:lnTo>
                  <a:pt x="0" y="36525"/>
                </a:lnTo>
                <a:lnTo>
                  <a:pt x="2483002" y="36525"/>
                </a:lnTo>
                <a:lnTo>
                  <a:pt x="2483002" y="0"/>
                </a:lnTo>
                <a:close/>
              </a:path>
            </a:pathLst>
          </a:custGeom>
          <a:solidFill>
            <a:srgbClr val="000000"/>
          </a:solidFill>
        </p:spPr>
        <p:txBody>
          <a:bodyPr wrap="square" lIns="0" tIns="0" rIns="0" bIns="0" rtlCol="0"/>
          <a:lstStyle/>
          <a:p>
            <a:endParaRPr/>
          </a:p>
        </p:txBody>
      </p:sp>
      <p:sp>
        <p:nvSpPr>
          <p:cNvPr id="5" name="object 5"/>
          <p:cNvSpPr/>
          <p:nvPr/>
        </p:nvSpPr>
        <p:spPr>
          <a:xfrm>
            <a:off x="3363734" y="2937789"/>
            <a:ext cx="2483485" cy="36830"/>
          </a:xfrm>
          <a:custGeom>
            <a:avLst/>
            <a:gdLst/>
            <a:ahLst/>
            <a:cxnLst/>
            <a:rect l="l" t="t" r="r" b="b"/>
            <a:pathLst>
              <a:path w="2483485" h="36830">
                <a:moveTo>
                  <a:pt x="2482989" y="0"/>
                </a:moveTo>
                <a:lnTo>
                  <a:pt x="0" y="0"/>
                </a:lnTo>
                <a:lnTo>
                  <a:pt x="0" y="36525"/>
                </a:lnTo>
                <a:lnTo>
                  <a:pt x="2482989" y="36525"/>
                </a:lnTo>
                <a:lnTo>
                  <a:pt x="2482989" y="0"/>
                </a:lnTo>
                <a:close/>
              </a:path>
            </a:pathLst>
          </a:custGeom>
          <a:solidFill>
            <a:srgbClr val="000000"/>
          </a:solidFill>
        </p:spPr>
        <p:txBody>
          <a:bodyPr wrap="square" lIns="0" tIns="0" rIns="0" bIns="0" rtlCol="0"/>
          <a:lstStyle/>
          <a:p>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524</TotalTime>
  <Words>431</Words>
  <Application>Microsoft Macintosh PowerPoint</Application>
  <PresentationFormat>Özel</PresentationFormat>
  <Paragraphs>31</Paragraphs>
  <Slides>10</Slides>
  <Notes>1</Notes>
  <HiddenSlides>0</HiddenSlides>
  <MMClips>0</MMClips>
  <ScaleCrop>false</ScaleCrop>
  <HeadingPairs>
    <vt:vector size="6" baseType="variant">
      <vt:variant>
        <vt:lpstr>Kullanılan Yazı Tipleri</vt:lpstr>
      </vt:variant>
      <vt:variant>
        <vt:i4>5</vt:i4>
      </vt:variant>
      <vt:variant>
        <vt:lpstr>Tema</vt:lpstr>
      </vt:variant>
      <vt:variant>
        <vt:i4>1</vt:i4>
      </vt:variant>
      <vt:variant>
        <vt:lpstr>Slayt Başlıkları</vt:lpstr>
      </vt:variant>
      <vt:variant>
        <vt:i4>10</vt:i4>
      </vt:variant>
    </vt:vector>
  </HeadingPairs>
  <TitlesOfParts>
    <vt:vector size="16" baseType="lpstr">
      <vt:lpstr>Arial</vt:lpstr>
      <vt:lpstr>Calibri</vt:lpstr>
      <vt:lpstr>Google Sans</vt:lpstr>
      <vt:lpstr>Tahoma</vt:lpstr>
      <vt:lpstr>Verdana</vt:lpstr>
      <vt:lpstr>Office Theme</vt:lpstr>
      <vt:lpstr>PowerPoint Sunusu</vt:lpstr>
      <vt:lpstr>Why this topic is important?</vt:lpstr>
      <vt:lpstr>Fake news is false information that is spread on purpose to deceive people. It can be anything from a fake news article to a made-up social media post.[1].</vt:lpstr>
      <vt:lpstr>AI can be used to spread fake news, but it can also be used to fight it. AI bots can post fake articles on social media, but AI algorithms can also be used to identify fake news articles and fact-check them.</vt:lpstr>
      <vt:lpstr>Detecting Fake News with AI</vt:lpstr>
      <vt:lpstr>Naive Bayes Algorithm</vt:lpstr>
      <vt:lpstr>Result of Naive Bayes</vt:lpstr>
      <vt:lpstr>Conclusion</vt:lpstr>
      <vt:lpstr>Resources  [1]https://www.sciencedirect.com/science/article/abs/pii/S0378437119317546#fig4 [2]https://www.sciencedirect.com/science/article/abs/pii/S0925231223001376 [3]https://dergipark.org.tr/en/download/article-file/3015090</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Harun Sahinol</dc:creator>
  <cp:lastModifiedBy>MEHMET HARUN ŞAHİNOL</cp:lastModifiedBy>
  <cp:revision>4</cp:revision>
  <dcterms:created xsi:type="dcterms:W3CDTF">2023-11-15T17:34:43Z</dcterms:created>
  <dcterms:modified xsi:type="dcterms:W3CDTF">2023-12-08T11:46:26Z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2023-11-15T00:00:00Z</vt:filetime>
  </property>
  <property fmtid="{D5CDD505-2E9C-101B-9397-08002B2CF9AE}" pid="3" name="LastSaved">
    <vt:filetime>2023-11-15T00:00:00Z</vt:filetime>
  </property>
</Properties>
</file>